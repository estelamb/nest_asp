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7"/>
  </p:notesMasterIdLst>
  <p:sldIdLst>
    <p:sldId id="256" r:id="rId5"/>
    <p:sldId id="278" r:id="rId6"/>
    <p:sldId id="279" r:id="rId7"/>
    <p:sldId id="284" r:id="rId8"/>
    <p:sldId id="280" r:id="rId9"/>
    <p:sldId id="286" r:id="rId10"/>
    <p:sldId id="285" r:id="rId11"/>
    <p:sldId id="289" r:id="rId12"/>
    <p:sldId id="290" r:id="rId13"/>
    <p:sldId id="296" r:id="rId14"/>
    <p:sldId id="291" r:id="rId15"/>
    <p:sldId id="293" r:id="rId16"/>
    <p:sldId id="294" r:id="rId17"/>
    <p:sldId id="295" r:id="rId18"/>
    <p:sldId id="292" r:id="rId19"/>
    <p:sldId id="297" r:id="rId20"/>
    <p:sldId id="299" r:id="rId21"/>
    <p:sldId id="287" r:id="rId22"/>
    <p:sldId id="288" r:id="rId23"/>
    <p:sldId id="283" r:id="rId24"/>
    <p:sldId id="281" r:id="rId25"/>
    <p:sldId id="282" r:id="rId26"/>
  </p:sldIdLst>
  <p:sldSz cx="18288000" cy="10287000"/>
  <p:notesSz cx="6858000" cy="9144000"/>
  <p:embeddedFontLst>
    <p:embeddedFont>
      <p:font typeface="Arial Bold" panose="020B0604020202020204" charset="0"/>
      <p:regular r:id="rId28"/>
      <p:bold r:id="rId29"/>
    </p:embeddedFont>
    <p:embeddedFont>
      <p:font typeface="Ubuntu" panose="020B0504030602030204" pitchFamily="34" charset="0"/>
      <p:regular r:id="rId30"/>
      <p:bold r:id="rId31"/>
      <p:italic r:id="rId32"/>
      <p:boldItalic r:id="rId33"/>
    </p:embeddedFont>
    <p:embeddedFont>
      <p:font typeface="Ubuntu" panose="020B050403060203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7B7"/>
    <a:srgbClr val="FFFFFF"/>
    <a:srgbClr val="22C3C8"/>
    <a:srgbClr val="D9D9D9"/>
    <a:srgbClr val="EBEBEB"/>
    <a:srgbClr val="141519"/>
    <a:srgbClr val="000066"/>
    <a:srgbClr val="000099"/>
    <a:srgbClr val="003CB4"/>
    <a:srgbClr val="1E94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68DCA-56E3-AEE2-2C15-C316312B9278}" v="149" dt="2026-02-11T14:37:44.313"/>
    <p1510:client id="{57DC7908-E8EB-C6DA-78F9-97E82EC7ECA9}" v="2" dt="2026-02-10T17:40:45.324"/>
    <p1510:client id="{83C0D016-FB64-40B0-AE0C-49198A527A0F}" v="6" dt="2026-02-10T18:36:33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28497C-3FF9-42D1-9B61-04F58A40E657}" type="doc">
      <dgm:prSet loTypeId="urn:microsoft.com/office/officeart/2005/8/layout/vList2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99A57E07-1A9B-43D2-B61A-360B0E431B69}">
      <dgm:prSet phldrT="[Texto]"/>
      <dgm:spPr/>
      <dgm:t>
        <a:bodyPr/>
        <a:lstStyle/>
        <a:p>
          <a:pPr rtl="0"/>
          <a:r>
            <a:rPr lang="en-GB" b="0" u="none" strike="noStrike" noProof="0" dirty="0"/>
            <a:t>Alarms (Periodic and non-perio</a:t>
          </a:r>
          <a:r>
            <a:rPr lang="en-GB" b="0" u="none" strike="noStrike" noProof="0" dirty="0">
              <a:solidFill>
                <a:schemeClr val="bg1"/>
              </a:solidFill>
            </a:rPr>
            <a:t>dic</a:t>
          </a:r>
          <a:r>
            <a:rPr lang="en-GB" sz="1800" b="0" i="0" u="none" strike="noStrike" noProof="0" dirty="0">
              <a:solidFill>
                <a:schemeClr val="bg1"/>
              </a:solidFill>
              <a:latin typeface="Calibri"/>
            </a:rPr>
            <a:t>)</a:t>
          </a:r>
          <a:endParaRPr lang="en-US" sz="1800" b="0" i="0" u="none" strike="noStrike" noProof="0" dirty="0">
            <a:solidFill>
              <a:schemeClr val="bg1"/>
            </a:solidFill>
            <a:latin typeface="Calibri"/>
          </a:endParaRPr>
        </a:p>
      </dgm:t>
    </dgm:pt>
    <dgm:pt modelId="{87E3321E-9F1E-4DAC-B836-1A79536E82A5}" type="parTrans" cxnId="{CF5AB6E4-6376-4F3D-89F0-E70353283D7B}">
      <dgm:prSet/>
      <dgm:spPr/>
      <dgm:t>
        <a:bodyPr/>
        <a:lstStyle/>
        <a:p>
          <a:endParaRPr lang="es-ES"/>
        </a:p>
      </dgm:t>
    </dgm:pt>
    <dgm:pt modelId="{2129D727-94C1-40A8-91F6-5308D164AFA7}" type="sibTrans" cxnId="{CF5AB6E4-6376-4F3D-89F0-E70353283D7B}">
      <dgm:prSet/>
      <dgm:spPr/>
      <dgm:t>
        <a:bodyPr/>
        <a:lstStyle/>
        <a:p>
          <a:endParaRPr lang="es-ES"/>
        </a:p>
      </dgm:t>
    </dgm:pt>
    <dgm:pt modelId="{D0046D6C-A3A2-440E-9F50-5CCEB527C4E8}">
      <dgm:prSet phldrT="[Texto]"/>
      <dgm:spPr/>
      <dgm:t>
        <a:bodyPr/>
        <a:lstStyle/>
        <a:p>
          <a:pPr rtl="0"/>
          <a:r>
            <a:rPr lang="en-GB" b="0" u="none" strike="noStrike" noProof="0"/>
            <a:t>Knowledge extraction form the IoT network</a:t>
          </a:r>
          <a:endParaRPr lang="en-US" sz="1800" b="0" i="0" u="none" strike="noStrike" noProof="0" dirty="0">
            <a:solidFill>
              <a:srgbClr val="000000"/>
            </a:solidFill>
            <a:latin typeface="Calibri"/>
            <a:ea typeface="Calibri"/>
            <a:cs typeface="Calibri"/>
          </a:endParaRPr>
        </a:p>
      </dgm:t>
    </dgm:pt>
    <dgm:pt modelId="{F76883B9-BF8F-42BB-AA1A-6BD069553617}" type="parTrans" cxnId="{F6A32976-2CC1-4F73-AD6B-1C7CB870CF99}">
      <dgm:prSet/>
      <dgm:spPr/>
      <dgm:t>
        <a:bodyPr/>
        <a:lstStyle/>
        <a:p>
          <a:endParaRPr lang="es-ES"/>
        </a:p>
      </dgm:t>
    </dgm:pt>
    <dgm:pt modelId="{C56EF580-41C6-436A-BD79-B752691049D8}" type="sibTrans" cxnId="{F6A32976-2CC1-4F73-AD6B-1C7CB870CF99}">
      <dgm:prSet/>
      <dgm:spPr/>
      <dgm:t>
        <a:bodyPr/>
        <a:lstStyle/>
        <a:p>
          <a:endParaRPr lang="es-ES"/>
        </a:p>
      </dgm:t>
    </dgm:pt>
    <dgm:pt modelId="{0C641A94-122A-41DB-825D-8A70ECAB6F0A}">
      <dgm:prSet phldrT="[Texto]"/>
      <dgm:spPr/>
      <dgm:t>
        <a:bodyPr/>
        <a:lstStyle/>
        <a:p>
          <a:r>
            <a:rPr lang="en-US" b="0" i="0" u="none" strike="noStrike" noProof="0" dirty="0">
              <a:solidFill>
                <a:schemeClr val="tx1"/>
              </a:solidFill>
              <a:latin typeface="+mn-lt"/>
              <a:ea typeface="+mn-ea"/>
              <a:cs typeface="+mn-cs"/>
            </a:rPr>
            <a:t>The system fuses data by gathering all the telemetry and encapsulating it into a structured JSON every period (10 seconds by default)</a:t>
          </a:r>
          <a:endParaRPr lang="en-US" noProof="0" dirty="0"/>
        </a:p>
      </dgm:t>
    </dgm:pt>
    <dgm:pt modelId="{4E319CC0-5385-47E7-BB12-2526EB93A79C}" type="parTrans" cxnId="{A31D42ED-B59F-40C6-9DD4-EF323F1D38F8}">
      <dgm:prSet/>
      <dgm:spPr/>
      <dgm:t>
        <a:bodyPr/>
        <a:lstStyle/>
        <a:p>
          <a:endParaRPr lang="es-ES"/>
        </a:p>
      </dgm:t>
    </dgm:pt>
    <dgm:pt modelId="{0FED1C8F-E5EA-4D35-9CD7-CD0C637AA979}" type="sibTrans" cxnId="{A31D42ED-B59F-40C6-9DD4-EF323F1D38F8}">
      <dgm:prSet/>
      <dgm:spPr/>
      <dgm:t>
        <a:bodyPr/>
        <a:lstStyle/>
        <a:p>
          <a:endParaRPr lang="es-ES"/>
        </a:p>
      </dgm:t>
    </dgm:pt>
    <dgm:pt modelId="{8D3F96D6-6696-442B-8D8F-FB682D85A6F7}">
      <dgm:prSet phldrT="[Texto]"/>
      <dgm:spPr/>
      <dgm:t>
        <a:bodyPr/>
        <a:lstStyle/>
        <a:p>
          <a:r>
            <a:rPr lang="en-GB" b="0" u="none" strike="noStrike" noProof="0" dirty="0"/>
            <a:t>Sensing and acting (real and simulated)</a:t>
          </a:r>
          <a:endParaRPr lang="en-US" noProof="0" dirty="0"/>
        </a:p>
      </dgm:t>
    </dgm:pt>
    <dgm:pt modelId="{D7CCE452-5315-47F0-B267-BC4DEEAA79F0}" type="sibTrans" cxnId="{76B0C91E-DAD0-430E-B51A-6D454A54DDEB}">
      <dgm:prSet/>
      <dgm:spPr/>
      <dgm:t>
        <a:bodyPr/>
        <a:lstStyle/>
        <a:p>
          <a:endParaRPr lang="es-ES"/>
        </a:p>
      </dgm:t>
    </dgm:pt>
    <dgm:pt modelId="{94308968-8BDD-402A-962F-CEE1D5218306}" type="parTrans" cxnId="{76B0C91E-DAD0-430E-B51A-6D454A54DDEB}">
      <dgm:prSet/>
      <dgm:spPr/>
      <dgm:t>
        <a:bodyPr/>
        <a:lstStyle/>
        <a:p>
          <a:endParaRPr lang="es-ES"/>
        </a:p>
      </dgm:t>
    </dgm:pt>
    <dgm:pt modelId="{BBCA69F5-F592-4F9B-A7F8-7B8EB4975EBB}">
      <dgm:prSet phldrT="[Texto]"/>
      <dgm:spPr/>
      <dgm:t>
        <a:bodyPr/>
        <a:lstStyle/>
        <a:p>
          <a:r>
            <a:rPr lang="en-US" b="0" u="none" strike="noStrike" noProof="0" dirty="0">
              <a:solidFill>
                <a:schemeClr val="tx1"/>
              </a:solidFill>
            </a:rPr>
            <a:t>The system has several sensor, like a temperature and humidity sensor and a weight sensor; and actuator like a servo motor and a RGB</a:t>
          </a:r>
          <a:endParaRPr lang="en-US" noProof="0" dirty="0">
            <a:solidFill>
              <a:schemeClr val="tx1"/>
            </a:solidFill>
          </a:endParaRPr>
        </a:p>
      </dgm:t>
    </dgm:pt>
    <dgm:pt modelId="{3B9E9858-8C6D-4A92-8593-722DA5FDD57A}" type="sibTrans" cxnId="{39325225-6173-4D41-845D-3C4267161904}">
      <dgm:prSet/>
      <dgm:spPr/>
      <dgm:t>
        <a:bodyPr/>
        <a:lstStyle/>
        <a:p>
          <a:endParaRPr lang="es-ES"/>
        </a:p>
      </dgm:t>
    </dgm:pt>
    <dgm:pt modelId="{20264832-9D3D-4E66-9FB4-81493FFB4C09}" type="parTrans" cxnId="{39325225-6173-4D41-845D-3C4267161904}">
      <dgm:prSet/>
      <dgm:spPr/>
      <dgm:t>
        <a:bodyPr/>
        <a:lstStyle/>
        <a:p>
          <a:endParaRPr lang="es-ES"/>
        </a:p>
      </dgm:t>
    </dgm:pt>
    <dgm:pt modelId="{88307B96-480F-42AA-B6AE-A47F20C21E51}">
      <dgm:prSet phldrT="[Texto]"/>
      <dgm:spPr/>
      <dgm:t>
        <a:bodyPr/>
        <a:lstStyle/>
        <a:p>
          <a:r>
            <a:rPr lang="en-US" noProof="0" dirty="0"/>
            <a:t>Periodic Measurements</a:t>
          </a:r>
          <a:endParaRPr lang="en-US" b="0" noProof="0" dirty="0"/>
        </a:p>
      </dgm:t>
    </dgm:pt>
    <dgm:pt modelId="{A41D5172-CCD3-45FE-B22D-E169FD7D8785}" type="sibTrans" cxnId="{4524C4EB-0903-42DC-97E7-5BF274096C60}">
      <dgm:prSet/>
      <dgm:spPr/>
      <dgm:t>
        <a:bodyPr/>
        <a:lstStyle/>
        <a:p>
          <a:endParaRPr lang="es-ES"/>
        </a:p>
      </dgm:t>
    </dgm:pt>
    <dgm:pt modelId="{58A04955-BC58-4AB9-866A-DD5EA0ED85F3}" type="parTrans" cxnId="{4524C4EB-0903-42DC-97E7-5BF274096C60}">
      <dgm:prSet/>
      <dgm:spPr/>
      <dgm:t>
        <a:bodyPr/>
        <a:lstStyle/>
        <a:p>
          <a:endParaRPr lang="es-ES"/>
        </a:p>
      </dgm:t>
    </dgm:pt>
    <dgm:pt modelId="{F5983D11-36F0-4D6B-A952-20F2C53D8CE2}">
      <dgm:prSet phldrT="[Texto]"/>
      <dgm:spPr/>
      <dgm:t>
        <a:bodyPr/>
        <a:lstStyle/>
        <a:p>
          <a:r>
            <a:rPr lang="en-US" b="0" u="none" strike="noStrike" noProof="0" dirty="0">
              <a:solidFill>
                <a:schemeClr val="tx1"/>
              </a:solidFill>
            </a:rPr>
            <a:t>The system periodically measures the temperature, the humidity, the weight and the UID read by the RFID</a:t>
          </a:r>
          <a:endParaRPr lang="en-US" b="1" noProof="0" dirty="0">
            <a:solidFill>
              <a:schemeClr val="tx1"/>
            </a:solidFill>
          </a:endParaRPr>
        </a:p>
      </dgm:t>
    </dgm:pt>
    <dgm:pt modelId="{8933BA1E-6750-4BAD-A618-F47BE3AAD13C}" type="sibTrans" cxnId="{B279FEAF-FC60-4B18-BB13-465A4621ED9A}">
      <dgm:prSet/>
      <dgm:spPr/>
      <dgm:t>
        <a:bodyPr/>
        <a:lstStyle/>
        <a:p>
          <a:endParaRPr lang="es-ES"/>
        </a:p>
      </dgm:t>
    </dgm:pt>
    <dgm:pt modelId="{27200C22-A368-4284-8EDA-B82ED36AA5F5}" type="parTrans" cxnId="{B279FEAF-FC60-4B18-BB13-465A4621ED9A}">
      <dgm:prSet/>
      <dgm:spPr/>
      <dgm:t>
        <a:bodyPr/>
        <a:lstStyle/>
        <a:p>
          <a:endParaRPr lang="es-ES"/>
        </a:p>
      </dgm:t>
    </dgm:pt>
    <dgm:pt modelId="{1BD9DED0-CD2F-45AA-8FD3-AC84B2D73CA7}">
      <dgm:prSet phldrT="[Texto]"/>
      <dgm:spPr/>
      <dgm:t>
        <a:bodyPr/>
        <a:lstStyle/>
        <a:p>
          <a:r>
            <a:rPr lang="en-US" noProof="0" dirty="0"/>
            <a:t>Fusion of information</a:t>
          </a:r>
        </a:p>
      </dgm:t>
    </dgm:pt>
    <dgm:pt modelId="{F79F50BD-A18F-4215-87E4-4168BC5335D2}" type="sibTrans" cxnId="{48BF1726-E110-4A98-8E57-E335BEEEB5EC}">
      <dgm:prSet/>
      <dgm:spPr/>
      <dgm:t>
        <a:bodyPr/>
        <a:lstStyle/>
        <a:p>
          <a:endParaRPr lang="es-ES"/>
        </a:p>
      </dgm:t>
    </dgm:pt>
    <dgm:pt modelId="{ED8365A2-8928-4073-9E55-C0BA338C12E9}" type="parTrans" cxnId="{48BF1726-E110-4A98-8E57-E335BEEEB5EC}">
      <dgm:prSet/>
      <dgm:spPr/>
      <dgm:t>
        <a:bodyPr/>
        <a:lstStyle/>
        <a:p>
          <a:endParaRPr lang="es-ES"/>
        </a:p>
      </dgm:t>
    </dgm:pt>
    <dgm:pt modelId="{917DDDD5-AD46-4C36-9C33-542CB2B4B775}">
      <dgm:prSet phldrT="[Texto]"/>
      <dgm:spPr/>
      <dgm:t>
        <a:bodyPr/>
        <a:lstStyle/>
        <a:p>
          <a:r>
            <a:rPr lang="en-GB"/>
            <a:t>Commanding the IoT network (Server side) and Visualization</a:t>
          </a:r>
          <a:endParaRPr lang="en-US" noProof="0" dirty="0"/>
        </a:p>
      </dgm:t>
    </dgm:pt>
    <dgm:pt modelId="{E4929A8F-57C1-4D1F-B40D-B7BF6E3C4EFB}" type="parTrans" cxnId="{F7443A2C-CE01-4415-AFFB-688B62F6AD3A}">
      <dgm:prSet/>
      <dgm:spPr/>
      <dgm:t>
        <a:bodyPr/>
        <a:lstStyle/>
        <a:p>
          <a:endParaRPr lang="en-GB"/>
        </a:p>
      </dgm:t>
    </dgm:pt>
    <dgm:pt modelId="{69DCD66E-C5E6-42CB-B43D-6E093CB3B58A}" type="sibTrans" cxnId="{F7443A2C-CE01-4415-AFFB-688B62F6AD3A}">
      <dgm:prSet/>
      <dgm:spPr/>
      <dgm:t>
        <a:bodyPr/>
        <a:lstStyle/>
        <a:p>
          <a:endParaRPr lang="en-GB"/>
        </a:p>
      </dgm:t>
    </dgm:pt>
    <dgm:pt modelId="{BBA8A02A-0DB7-4124-A3A1-76BC54F27A8C}">
      <dgm:prSet phldrT="[Texto]"/>
      <dgm:spPr/>
      <dgm:t>
        <a:bodyPr/>
        <a:lstStyle/>
        <a:p>
          <a:r>
            <a:rPr lang="es-ES" b="0" i="0" dirty="0" err="1">
              <a:solidFill>
                <a:schemeClr val="tx1"/>
              </a:solidFill>
            </a:rPr>
            <a:t>Through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the</a:t>
          </a:r>
          <a:r>
            <a:rPr lang="es-ES" b="0" i="0" dirty="0">
              <a:solidFill>
                <a:schemeClr val="tx1"/>
              </a:solidFill>
            </a:rPr>
            <a:t> use </a:t>
          </a:r>
          <a:r>
            <a:rPr lang="es-ES" b="0" i="0" dirty="0" err="1">
              <a:solidFill>
                <a:schemeClr val="tx1"/>
              </a:solidFill>
            </a:rPr>
            <a:t>of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the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ThingsBoard</a:t>
          </a:r>
          <a:r>
            <a:rPr lang="es-ES" b="0" i="0" dirty="0">
              <a:solidFill>
                <a:schemeClr val="tx1"/>
              </a:solidFill>
            </a:rPr>
            <a:t> interface and </a:t>
          </a:r>
          <a:r>
            <a:rPr lang="es-ES" b="0" i="0" dirty="0" err="1">
              <a:solidFill>
                <a:schemeClr val="tx1"/>
              </a:solidFill>
            </a:rPr>
            <a:t>the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Telegram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bot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developed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the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IoT</a:t>
          </a:r>
          <a:r>
            <a:rPr lang="es-ES" b="0" i="0" dirty="0">
              <a:solidFill>
                <a:schemeClr val="tx1"/>
              </a:solidFill>
            </a:rPr>
            <a:t> </a:t>
          </a:r>
          <a:r>
            <a:rPr lang="es-ES" b="0" i="0" dirty="0" err="1">
              <a:solidFill>
                <a:schemeClr val="tx1"/>
              </a:solidFill>
            </a:rPr>
            <a:t>network</a:t>
          </a:r>
          <a:r>
            <a:rPr lang="es-ES" b="0" i="0" dirty="0">
              <a:solidFill>
                <a:schemeClr val="tx1"/>
              </a:solidFill>
            </a:rPr>
            <a:t> can be </a:t>
          </a:r>
          <a:r>
            <a:rPr lang="es-ES" b="0" i="0" dirty="0" err="1">
              <a:solidFill>
                <a:schemeClr val="tx1"/>
              </a:solidFill>
            </a:rPr>
            <a:t>commanded</a:t>
          </a:r>
          <a:endParaRPr lang="en-US" noProof="0" dirty="0">
            <a:solidFill>
              <a:schemeClr val="tx1"/>
            </a:solidFill>
          </a:endParaRPr>
        </a:p>
      </dgm:t>
    </dgm:pt>
    <dgm:pt modelId="{55DDE45D-F8D8-4CE1-8FD2-BD9A148CB1B4}" type="parTrans" cxnId="{1D89D76E-079C-4F8F-84A1-16307194785C}">
      <dgm:prSet/>
      <dgm:spPr/>
      <dgm:t>
        <a:bodyPr/>
        <a:lstStyle/>
        <a:p>
          <a:endParaRPr lang="en-GB"/>
        </a:p>
      </dgm:t>
    </dgm:pt>
    <dgm:pt modelId="{332360A4-5E52-4B73-B3D0-6082BF503D2E}" type="sibTrans" cxnId="{1D89D76E-079C-4F8F-84A1-16307194785C}">
      <dgm:prSet/>
      <dgm:spPr/>
      <dgm:t>
        <a:bodyPr/>
        <a:lstStyle/>
        <a:p>
          <a:endParaRPr lang="en-GB"/>
        </a:p>
      </dgm:t>
    </dgm:pt>
    <dgm:pt modelId="{11600AE2-E91F-4B7B-A940-67AFDE9F798A}">
      <dgm:prSet phldr="0"/>
      <dgm:spPr/>
      <dgm:t>
        <a:bodyPr/>
        <a:lstStyle/>
        <a:p>
          <a:r>
            <a:rPr lang="en-US" sz="1800" b="0" i="0" u="none" strike="noStrike" noProof="0" dirty="0">
              <a:solidFill>
                <a:schemeClr val="tx1"/>
              </a:solidFill>
              <a:latin typeface="+mn-lt"/>
              <a:ea typeface="+mn-ea"/>
              <a:cs typeface="+mn-cs"/>
            </a:rPr>
            <a:t>The system extracts the state of the nest from the information gathered: If the nest is empty, If the hen is in the nest, If there are eggs in the nest and how many eggs are present.</a:t>
          </a:r>
          <a:endParaRPr lang="en-US" sz="1800" dirty="0"/>
        </a:p>
      </dgm:t>
    </dgm:pt>
    <dgm:pt modelId="{8D8CB4CD-CB51-46ED-9233-374147967F35}" type="parTrans" cxnId="{2E37D8EE-B248-45B6-AAF8-6E5EC4C40B8A}">
      <dgm:prSet/>
      <dgm:spPr/>
    </dgm:pt>
    <dgm:pt modelId="{70B80CA3-8484-4C7E-90FA-C9E22A33BF38}" type="sibTrans" cxnId="{2E37D8EE-B248-45B6-AAF8-6E5EC4C40B8A}">
      <dgm:prSet/>
      <dgm:spPr/>
    </dgm:pt>
    <dgm:pt modelId="{C689D7B7-3AF9-4055-875F-C6D7159E9A20}">
      <dgm:prSet phldr="0"/>
      <dgm:spPr/>
      <dgm:t>
        <a:bodyPr/>
        <a:lstStyle/>
        <a:p>
          <a:r>
            <a:rPr lang="en-US" sz="1800" b="0" i="0" u="none" strike="noStrike" noProof="0" dirty="0">
              <a:solidFill>
                <a:schemeClr val="tx1"/>
              </a:solidFill>
              <a:latin typeface="Calibri"/>
            </a:rPr>
            <a:t>The</a:t>
          </a:r>
          <a:r>
            <a:rPr lang="en-US" sz="1800" b="0" i="0" u="none" strike="noStrike" noProof="0" dirty="0">
              <a:solidFill>
                <a:schemeClr val="tx1"/>
              </a:solidFill>
            </a:rPr>
            <a:t> system creates alerts when any of the telemetry is out of bounds and when there are eggs present in the nest</a:t>
          </a:r>
          <a:endParaRPr lang="en-US" sz="1400" dirty="0"/>
        </a:p>
      </dgm:t>
    </dgm:pt>
    <dgm:pt modelId="{4839D3C1-3769-4D47-860E-8F15A919535A}" type="parTrans" cxnId="{C7E13A07-F91E-4BE3-BF55-0DE7566393ED}">
      <dgm:prSet/>
      <dgm:spPr/>
    </dgm:pt>
    <dgm:pt modelId="{A292A265-25A9-42AF-B0C6-5D58C51112D5}" type="sibTrans" cxnId="{C7E13A07-F91E-4BE3-BF55-0DE7566393ED}">
      <dgm:prSet/>
      <dgm:spPr/>
    </dgm:pt>
    <dgm:pt modelId="{FEAA492E-95D2-4535-9C91-76EA96121E3D}" type="pres">
      <dgm:prSet presAssocID="{7328497C-3FF9-42D1-9B61-04F58A40E657}" presName="linear" presStyleCnt="0">
        <dgm:presLayoutVars>
          <dgm:animLvl val="lvl"/>
          <dgm:resizeHandles val="exact"/>
        </dgm:presLayoutVars>
      </dgm:prSet>
      <dgm:spPr/>
    </dgm:pt>
    <dgm:pt modelId="{52820F37-E140-4562-88F4-9A7344D006D9}" type="pres">
      <dgm:prSet presAssocID="{8D3F96D6-6696-442B-8D8F-FB682D85A6F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0E78512-661D-4A1A-BFC6-34E283FC4B67}" type="pres">
      <dgm:prSet presAssocID="{8D3F96D6-6696-442B-8D8F-FB682D85A6F7}" presName="childText" presStyleLbl="revTx" presStyleIdx="0" presStyleCnt="6">
        <dgm:presLayoutVars>
          <dgm:bulletEnabled val="1"/>
        </dgm:presLayoutVars>
      </dgm:prSet>
      <dgm:spPr/>
    </dgm:pt>
    <dgm:pt modelId="{7742AF92-B39F-4FF4-8A86-1890654061E7}" type="pres">
      <dgm:prSet presAssocID="{88307B96-480F-42AA-B6AE-A47F20C21E5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9103DCF-BB2B-4C62-A4EC-A55C6C08A30D}" type="pres">
      <dgm:prSet presAssocID="{88307B96-480F-42AA-B6AE-A47F20C21E51}" presName="childText" presStyleLbl="revTx" presStyleIdx="1" presStyleCnt="6">
        <dgm:presLayoutVars>
          <dgm:bulletEnabled val="1"/>
        </dgm:presLayoutVars>
      </dgm:prSet>
      <dgm:spPr/>
    </dgm:pt>
    <dgm:pt modelId="{4FF3DB07-0503-4B32-828E-2958EBBAFB65}" type="pres">
      <dgm:prSet presAssocID="{99A57E07-1A9B-43D2-B61A-360B0E431B6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D401114-CB77-4A7E-9CBE-8ADAD79C5E1A}" type="pres">
      <dgm:prSet presAssocID="{99A57E07-1A9B-43D2-B61A-360B0E431B69}" presName="childText" presStyleLbl="revTx" presStyleIdx="2" presStyleCnt="6">
        <dgm:presLayoutVars>
          <dgm:bulletEnabled val="1"/>
        </dgm:presLayoutVars>
      </dgm:prSet>
      <dgm:spPr/>
    </dgm:pt>
    <dgm:pt modelId="{BCB3DF5B-7B30-4D6C-AAD4-7972DAAAD864}" type="pres">
      <dgm:prSet presAssocID="{D0046D6C-A3A2-440E-9F50-5CCEB527C4E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FFA649F-8561-49B5-AD63-FB88FB214C04}" type="pres">
      <dgm:prSet presAssocID="{D0046D6C-A3A2-440E-9F50-5CCEB527C4E8}" presName="childText" presStyleLbl="revTx" presStyleIdx="3" presStyleCnt="6">
        <dgm:presLayoutVars>
          <dgm:bulletEnabled val="1"/>
        </dgm:presLayoutVars>
      </dgm:prSet>
      <dgm:spPr/>
    </dgm:pt>
    <dgm:pt modelId="{9FFCD1DE-5E4B-4793-A54D-6A3AD365F02B}" type="pres">
      <dgm:prSet presAssocID="{1BD9DED0-CD2F-45AA-8FD3-AC84B2D73CA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0EF9681-77EC-461D-9A12-330E4E6E5103}" type="pres">
      <dgm:prSet presAssocID="{1BD9DED0-CD2F-45AA-8FD3-AC84B2D73CA7}" presName="childText" presStyleLbl="revTx" presStyleIdx="4" presStyleCnt="6">
        <dgm:presLayoutVars>
          <dgm:bulletEnabled val="1"/>
        </dgm:presLayoutVars>
      </dgm:prSet>
      <dgm:spPr/>
    </dgm:pt>
    <dgm:pt modelId="{9CB4F09B-9735-4ABD-84C4-E54187DD1ABA}" type="pres">
      <dgm:prSet presAssocID="{917DDDD5-AD46-4C36-9C33-542CB2B4B775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E5D511F-9808-4C92-96B4-09A5EC3EC7E4}" type="pres">
      <dgm:prSet presAssocID="{917DDDD5-AD46-4C36-9C33-542CB2B4B775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9F9DFE01-8B99-4AFF-B4E4-78D2434C824E}" type="presOf" srcId="{99A57E07-1A9B-43D2-B61A-360B0E431B69}" destId="{4FF3DB07-0503-4B32-828E-2958EBBAFB65}" srcOrd="0" destOrd="0" presId="urn:microsoft.com/office/officeart/2005/8/layout/vList2"/>
    <dgm:cxn modelId="{C7E13A07-F91E-4BE3-BF55-0DE7566393ED}" srcId="{99A57E07-1A9B-43D2-B61A-360B0E431B69}" destId="{C689D7B7-3AF9-4055-875F-C6D7159E9A20}" srcOrd="0" destOrd="0" parTransId="{4839D3C1-3769-4D47-860E-8F15A919535A}" sibTransId="{A292A265-25A9-42AF-B0C6-5D58C51112D5}"/>
    <dgm:cxn modelId="{68DE240B-FFC9-48C0-8574-93C5E232BD8D}" type="presOf" srcId="{917DDDD5-AD46-4C36-9C33-542CB2B4B775}" destId="{9CB4F09B-9735-4ABD-84C4-E54187DD1ABA}" srcOrd="0" destOrd="0" presId="urn:microsoft.com/office/officeart/2005/8/layout/vList2"/>
    <dgm:cxn modelId="{76B0C91E-DAD0-430E-B51A-6D454A54DDEB}" srcId="{7328497C-3FF9-42D1-9B61-04F58A40E657}" destId="{8D3F96D6-6696-442B-8D8F-FB682D85A6F7}" srcOrd="0" destOrd="0" parTransId="{94308968-8BDD-402A-962F-CEE1D5218306}" sibTransId="{D7CCE452-5315-47F0-B267-BC4DEEAA79F0}"/>
    <dgm:cxn modelId="{39325225-6173-4D41-845D-3C4267161904}" srcId="{8D3F96D6-6696-442B-8D8F-FB682D85A6F7}" destId="{BBCA69F5-F592-4F9B-A7F8-7B8EB4975EBB}" srcOrd="0" destOrd="0" parTransId="{20264832-9D3D-4E66-9FB4-81493FFB4C09}" sibTransId="{3B9E9858-8C6D-4A92-8593-722DA5FDD57A}"/>
    <dgm:cxn modelId="{48BF1726-E110-4A98-8E57-E335BEEEB5EC}" srcId="{7328497C-3FF9-42D1-9B61-04F58A40E657}" destId="{1BD9DED0-CD2F-45AA-8FD3-AC84B2D73CA7}" srcOrd="4" destOrd="0" parTransId="{ED8365A2-8928-4073-9E55-C0BA338C12E9}" sibTransId="{F79F50BD-A18F-4215-87E4-4168BC5335D2}"/>
    <dgm:cxn modelId="{F7443A2C-CE01-4415-AFFB-688B62F6AD3A}" srcId="{7328497C-3FF9-42D1-9B61-04F58A40E657}" destId="{917DDDD5-AD46-4C36-9C33-542CB2B4B775}" srcOrd="5" destOrd="0" parTransId="{E4929A8F-57C1-4D1F-B40D-B7BF6E3C4EFB}" sibTransId="{69DCD66E-C5E6-42CB-B43D-6E093CB3B58A}"/>
    <dgm:cxn modelId="{3C21B643-421D-4476-ABE7-1097F18EDC04}" type="presOf" srcId="{11600AE2-E91F-4B7B-A940-67AFDE9F798A}" destId="{3FFA649F-8561-49B5-AD63-FB88FB214C04}" srcOrd="0" destOrd="0" presId="urn:microsoft.com/office/officeart/2005/8/layout/vList2"/>
    <dgm:cxn modelId="{77AD9D65-74DA-4CF3-9D4A-C5BC101D0668}" type="presOf" srcId="{BBCA69F5-F592-4F9B-A7F8-7B8EB4975EBB}" destId="{30E78512-661D-4A1A-BFC6-34E283FC4B67}" srcOrd="0" destOrd="0" presId="urn:microsoft.com/office/officeart/2005/8/layout/vList2"/>
    <dgm:cxn modelId="{1D89D76E-079C-4F8F-84A1-16307194785C}" srcId="{917DDDD5-AD46-4C36-9C33-542CB2B4B775}" destId="{BBA8A02A-0DB7-4124-A3A1-76BC54F27A8C}" srcOrd="0" destOrd="0" parTransId="{55DDE45D-F8D8-4CE1-8FD2-BD9A148CB1B4}" sibTransId="{332360A4-5E52-4B73-B3D0-6082BF503D2E}"/>
    <dgm:cxn modelId="{A8BDEB70-C6E3-43EA-B168-5A8625E4BA11}" type="presOf" srcId="{D0046D6C-A3A2-440E-9F50-5CCEB527C4E8}" destId="{BCB3DF5B-7B30-4D6C-AAD4-7972DAAAD864}" srcOrd="0" destOrd="0" presId="urn:microsoft.com/office/officeart/2005/8/layout/vList2"/>
    <dgm:cxn modelId="{87369471-8F43-43AB-A387-B8071FC93F93}" type="presOf" srcId="{C689D7B7-3AF9-4055-875F-C6D7159E9A20}" destId="{2D401114-CB77-4A7E-9CBE-8ADAD79C5E1A}" srcOrd="0" destOrd="0" presId="urn:microsoft.com/office/officeart/2005/8/layout/vList2"/>
    <dgm:cxn modelId="{F6A32976-2CC1-4F73-AD6B-1C7CB870CF99}" srcId="{7328497C-3FF9-42D1-9B61-04F58A40E657}" destId="{D0046D6C-A3A2-440E-9F50-5CCEB527C4E8}" srcOrd="3" destOrd="0" parTransId="{F76883B9-BF8F-42BB-AA1A-6BD069553617}" sibTransId="{C56EF580-41C6-436A-BD79-B752691049D8}"/>
    <dgm:cxn modelId="{817E5F7A-8C62-48CB-B68E-4C7F76D9DECF}" type="presOf" srcId="{8D3F96D6-6696-442B-8D8F-FB682D85A6F7}" destId="{52820F37-E140-4562-88F4-9A7344D006D9}" srcOrd="0" destOrd="0" presId="urn:microsoft.com/office/officeart/2005/8/layout/vList2"/>
    <dgm:cxn modelId="{DF67BD81-9CCB-4B3A-92DE-B1A6645EBAD6}" type="presOf" srcId="{88307B96-480F-42AA-B6AE-A47F20C21E51}" destId="{7742AF92-B39F-4FF4-8A86-1890654061E7}" srcOrd="0" destOrd="0" presId="urn:microsoft.com/office/officeart/2005/8/layout/vList2"/>
    <dgm:cxn modelId="{B279FEAF-FC60-4B18-BB13-465A4621ED9A}" srcId="{88307B96-480F-42AA-B6AE-A47F20C21E51}" destId="{F5983D11-36F0-4D6B-A952-20F2C53D8CE2}" srcOrd="0" destOrd="0" parTransId="{27200C22-A368-4284-8EDA-B82ED36AA5F5}" sibTransId="{8933BA1E-6750-4BAD-A618-F47BE3AAD13C}"/>
    <dgm:cxn modelId="{69BFCDB3-80E8-4253-AC74-0787FD7EDAD8}" type="presOf" srcId="{1BD9DED0-CD2F-45AA-8FD3-AC84B2D73CA7}" destId="{9FFCD1DE-5E4B-4793-A54D-6A3AD365F02B}" srcOrd="0" destOrd="0" presId="urn:microsoft.com/office/officeart/2005/8/layout/vList2"/>
    <dgm:cxn modelId="{AE530BC5-DBFD-4631-86EA-3727EAABEACF}" type="presOf" srcId="{7328497C-3FF9-42D1-9B61-04F58A40E657}" destId="{FEAA492E-95D2-4535-9C91-76EA96121E3D}" srcOrd="0" destOrd="0" presId="urn:microsoft.com/office/officeart/2005/8/layout/vList2"/>
    <dgm:cxn modelId="{5D9B68C9-69C3-45CD-A73E-99AAA58B844E}" type="presOf" srcId="{0C641A94-122A-41DB-825D-8A70ECAB6F0A}" destId="{A0EF9681-77EC-461D-9A12-330E4E6E5103}" srcOrd="0" destOrd="0" presId="urn:microsoft.com/office/officeart/2005/8/layout/vList2"/>
    <dgm:cxn modelId="{41908FD8-0717-4CBC-ABCC-1CBD69345AC7}" type="presOf" srcId="{F5983D11-36F0-4D6B-A952-20F2C53D8CE2}" destId="{F9103DCF-BB2B-4C62-A4EC-A55C6C08A30D}" srcOrd="0" destOrd="0" presId="urn:microsoft.com/office/officeart/2005/8/layout/vList2"/>
    <dgm:cxn modelId="{CF5AB6E4-6376-4F3D-89F0-E70353283D7B}" srcId="{7328497C-3FF9-42D1-9B61-04F58A40E657}" destId="{99A57E07-1A9B-43D2-B61A-360B0E431B69}" srcOrd="2" destOrd="0" parTransId="{87E3321E-9F1E-4DAC-B836-1A79536E82A5}" sibTransId="{2129D727-94C1-40A8-91F6-5308D164AFA7}"/>
    <dgm:cxn modelId="{4524C4EB-0903-42DC-97E7-5BF274096C60}" srcId="{7328497C-3FF9-42D1-9B61-04F58A40E657}" destId="{88307B96-480F-42AA-B6AE-A47F20C21E51}" srcOrd="1" destOrd="0" parTransId="{58A04955-BC58-4AB9-866A-DD5EA0ED85F3}" sibTransId="{A41D5172-CCD3-45FE-B22D-E169FD7D8785}"/>
    <dgm:cxn modelId="{A31D42ED-B59F-40C6-9DD4-EF323F1D38F8}" srcId="{1BD9DED0-CD2F-45AA-8FD3-AC84B2D73CA7}" destId="{0C641A94-122A-41DB-825D-8A70ECAB6F0A}" srcOrd="0" destOrd="0" parTransId="{4E319CC0-5385-47E7-BB12-2526EB93A79C}" sibTransId="{0FED1C8F-E5EA-4D35-9CD7-CD0C637AA979}"/>
    <dgm:cxn modelId="{2E37D8EE-B248-45B6-AAF8-6E5EC4C40B8A}" srcId="{D0046D6C-A3A2-440E-9F50-5CCEB527C4E8}" destId="{11600AE2-E91F-4B7B-A940-67AFDE9F798A}" srcOrd="0" destOrd="0" parTransId="{8D8CB4CD-CB51-46ED-9233-374147967F35}" sibTransId="{70B80CA3-8484-4C7E-90FA-C9E22A33BF38}"/>
    <dgm:cxn modelId="{353083FE-EFC9-4032-AC85-7642874FA382}" type="presOf" srcId="{BBA8A02A-0DB7-4124-A3A1-76BC54F27A8C}" destId="{7E5D511F-9808-4C92-96B4-09A5EC3EC7E4}" srcOrd="0" destOrd="0" presId="urn:microsoft.com/office/officeart/2005/8/layout/vList2"/>
    <dgm:cxn modelId="{FB27E2E9-E63C-4D7F-B2E5-CA4937C0AC50}" type="presParOf" srcId="{FEAA492E-95D2-4535-9C91-76EA96121E3D}" destId="{52820F37-E140-4562-88F4-9A7344D006D9}" srcOrd="0" destOrd="0" presId="urn:microsoft.com/office/officeart/2005/8/layout/vList2"/>
    <dgm:cxn modelId="{4102A870-C10E-48D7-AAD6-8074F0D5A774}" type="presParOf" srcId="{FEAA492E-95D2-4535-9C91-76EA96121E3D}" destId="{30E78512-661D-4A1A-BFC6-34E283FC4B67}" srcOrd="1" destOrd="0" presId="urn:microsoft.com/office/officeart/2005/8/layout/vList2"/>
    <dgm:cxn modelId="{ABED9469-D8F2-4970-AF00-F3F89AA74B45}" type="presParOf" srcId="{FEAA492E-95D2-4535-9C91-76EA96121E3D}" destId="{7742AF92-B39F-4FF4-8A86-1890654061E7}" srcOrd="2" destOrd="0" presId="urn:microsoft.com/office/officeart/2005/8/layout/vList2"/>
    <dgm:cxn modelId="{10E2D06F-FB2F-49E0-9EEF-DC5FDE197D5B}" type="presParOf" srcId="{FEAA492E-95D2-4535-9C91-76EA96121E3D}" destId="{F9103DCF-BB2B-4C62-A4EC-A55C6C08A30D}" srcOrd="3" destOrd="0" presId="urn:microsoft.com/office/officeart/2005/8/layout/vList2"/>
    <dgm:cxn modelId="{18E8A2FC-ED69-4DA9-B5EE-24E072CC6FAF}" type="presParOf" srcId="{FEAA492E-95D2-4535-9C91-76EA96121E3D}" destId="{4FF3DB07-0503-4B32-828E-2958EBBAFB65}" srcOrd="4" destOrd="0" presId="urn:microsoft.com/office/officeart/2005/8/layout/vList2"/>
    <dgm:cxn modelId="{123C8A32-3176-4183-A4A4-D0606AFEC90D}" type="presParOf" srcId="{FEAA492E-95D2-4535-9C91-76EA96121E3D}" destId="{2D401114-CB77-4A7E-9CBE-8ADAD79C5E1A}" srcOrd="5" destOrd="0" presId="urn:microsoft.com/office/officeart/2005/8/layout/vList2"/>
    <dgm:cxn modelId="{058D251D-22BD-47CB-8164-CC28F94E0D25}" type="presParOf" srcId="{FEAA492E-95D2-4535-9C91-76EA96121E3D}" destId="{BCB3DF5B-7B30-4D6C-AAD4-7972DAAAD864}" srcOrd="6" destOrd="0" presId="urn:microsoft.com/office/officeart/2005/8/layout/vList2"/>
    <dgm:cxn modelId="{F8C9E912-FFAD-4831-9742-5886B88DD17B}" type="presParOf" srcId="{FEAA492E-95D2-4535-9C91-76EA96121E3D}" destId="{3FFA649F-8561-49B5-AD63-FB88FB214C04}" srcOrd="7" destOrd="0" presId="urn:microsoft.com/office/officeart/2005/8/layout/vList2"/>
    <dgm:cxn modelId="{6077FB5D-76CF-431D-98E1-D904EACDF036}" type="presParOf" srcId="{FEAA492E-95D2-4535-9C91-76EA96121E3D}" destId="{9FFCD1DE-5E4B-4793-A54D-6A3AD365F02B}" srcOrd="8" destOrd="0" presId="urn:microsoft.com/office/officeart/2005/8/layout/vList2"/>
    <dgm:cxn modelId="{914E1626-6DB0-47AC-B9AE-4F4EC3CB9A6D}" type="presParOf" srcId="{FEAA492E-95D2-4535-9C91-76EA96121E3D}" destId="{A0EF9681-77EC-461D-9A12-330E4E6E5103}" srcOrd="9" destOrd="0" presId="urn:microsoft.com/office/officeart/2005/8/layout/vList2"/>
    <dgm:cxn modelId="{E160EC7E-90CF-4166-A748-29DB98C794BA}" type="presParOf" srcId="{FEAA492E-95D2-4535-9C91-76EA96121E3D}" destId="{9CB4F09B-9735-4ABD-84C4-E54187DD1ABA}" srcOrd="10" destOrd="0" presId="urn:microsoft.com/office/officeart/2005/8/layout/vList2"/>
    <dgm:cxn modelId="{B97EA338-7212-45E7-8B77-2F5C8695A02F}" type="presParOf" srcId="{FEAA492E-95D2-4535-9C91-76EA96121E3D}" destId="{7E5D511F-9808-4C92-96B4-09A5EC3EC7E4}" srcOrd="11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3C3B63-DCC2-480F-B8F4-6F521500062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0F5B15D-AE2F-48B2-B8BE-C28BB0DF8F9E}">
      <dgm:prSet phldr="0"/>
      <dgm:spPr/>
      <dgm:t>
        <a:bodyPr/>
        <a:lstStyle/>
        <a:p>
          <a:pPr algn="l" rtl="0"/>
          <a:r>
            <a:rPr lang="es-ES" sz="1200" dirty="0">
              <a:solidFill>
                <a:schemeClr val="bg1"/>
              </a:solidFill>
            </a:rPr>
            <a:t>Predictive </a:t>
          </a:r>
          <a:r>
            <a:rPr lang="es-ES" sz="1200" dirty="0" err="1">
              <a:solidFill>
                <a:schemeClr val="bg1"/>
              </a:solidFill>
              <a:latin typeface="Calibri"/>
            </a:rPr>
            <a:t>Analytics</a:t>
          </a:r>
          <a:endParaRPr lang="es-ES" sz="1800" dirty="0">
            <a:solidFill>
              <a:schemeClr val="bg1"/>
            </a:solidFill>
            <a:latin typeface="Calibri"/>
          </a:endParaRPr>
        </a:p>
      </dgm:t>
    </dgm:pt>
    <dgm:pt modelId="{A3268D90-2045-4574-A524-D73AE38AE650}" type="parTrans" cxnId="{9862E70E-2A63-412B-912A-E3E732A66298}">
      <dgm:prSet/>
      <dgm:spPr/>
    </dgm:pt>
    <dgm:pt modelId="{CBCBCB13-7FEE-4FEF-A0A5-279C7BD66291}" type="sibTrans" cxnId="{9862E70E-2A63-412B-912A-E3E732A66298}">
      <dgm:prSet/>
      <dgm:spPr/>
    </dgm:pt>
    <dgm:pt modelId="{1D2FA4BB-C18D-40CA-9C8A-BD4CC6FD2583}">
      <dgm:prSet phldr="0"/>
      <dgm:spPr/>
      <dgm:t>
        <a:bodyPr/>
        <a:lstStyle/>
        <a:p>
          <a:pPr algn="l" rtl="0"/>
          <a:r>
            <a:rPr lang="es-ES" sz="1200" dirty="0" err="1">
              <a:solidFill>
                <a:schemeClr val="bg1"/>
              </a:solidFill>
            </a:rPr>
            <a:t>Telegram</a:t>
          </a:r>
          <a:r>
            <a:rPr lang="es-ES" sz="1200" dirty="0">
              <a:solidFill>
                <a:schemeClr val="bg1"/>
              </a:solidFill>
            </a:rPr>
            <a:t> </a:t>
          </a:r>
          <a:r>
            <a:rPr lang="es-ES" sz="1200" dirty="0" err="1">
              <a:solidFill>
                <a:schemeClr val="bg1"/>
              </a:solidFill>
            </a:rPr>
            <a:t>Updates</a:t>
          </a:r>
          <a:endParaRPr lang="es-ES" sz="1200" dirty="0">
            <a:solidFill>
              <a:schemeClr val="bg1"/>
            </a:solidFill>
            <a:latin typeface="Calibri"/>
          </a:endParaRPr>
        </a:p>
      </dgm:t>
    </dgm:pt>
    <dgm:pt modelId="{4DBE0215-CB29-423C-93F6-15176A4BD60A}" type="parTrans" cxnId="{8F0D133B-277D-44BC-8E2D-2D693D2E6EA1}">
      <dgm:prSet/>
      <dgm:spPr/>
    </dgm:pt>
    <dgm:pt modelId="{DA116578-EE37-44B2-9A64-9F9D4BD92A8F}" type="sibTrans" cxnId="{8F0D133B-277D-44BC-8E2D-2D693D2E6EA1}">
      <dgm:prSet/>
      <dgm:spPr/>
    </dgm:pt>
    <dgm:pt modelId="{86E57960-CEF8-4426-9F2B-64AEB1BADD49}">
      <dgm:prSet phldr="0"/>
      <dgm:spPr/>
      <dgm:t>
        <a:bodyPr/>
        <a:lstStyle/>
        <a:p>
          <a:pPr algn="l" rtl="0"/>
          <a:r>
            <a:rPr lang="es-ES" sz="1200" dirty="0" err="1">
              <a:solidFill>
                <a:schemeClr val="bg1"/>
              </a:solidFill>
            </a:rPr>
            <a:t>Enhanced</a:t>
          </a:r>
          <a:r>
            <a:rPr lang="es-ES" sz="1200" dirty="0">
              <a:solidFill>
                <a:schemeClr val="bg1"/>
              </a:solidFill>
            </a:rPr>
            <a:t> </a:t>
          </a:r>
          <a:r>
            <a:rPr lang="es-ES" sz="1200" dirty="0" err="1">
              <a:solidFill>
                <a:schemeClr val="bg1"/>
              </a:solidFill>
            </a:rPr>
            <a:t>Dashboard</a:t>
          </a:r>
          <a:endParaRPr lang="es-ES" sz="1200" dirty="0">
            <a:solidFill>
              <a:schemeClr val="bg1"/>
            </a:solidFill>
            <a:latin typeface="Calibri"/>
          </a:endParaRPr>
        </a:p>
      </dgm:t>
    </dgm:pt>
    <dgm:pt modelId="{F7322BA9-C065-49A0-B9F0-B8EBCD731C24}" type="parTrans" cxnId="{38A8488C-9914-4C8E-BE6B-BE1A40D37CD1}">
      <dgm:prSet/>
      <dgm:spPr/>
    </dgm:pt>
    <dgm:pt modelId="{C569C6F7-58DD-490D-BBF5-104DAE0D406F}" type="sibTrans" cxnId="{38A8488C-9914-4C8E-BE6B-BE1A40D37CD1}">
      <dgm:prSet/>
      <dgm:spPr/>
    </dgm:pt>
    <dgm:pt modelId="{777FA8A4-7A98-44FA-BF87-6AE2A126BD89}">
      <dgm:prSet phldr="0"/>
      <dgm:spPr/>
      <dgm:t>
        <a:bodyPr/>
        <a:lstStyle/>
        <a:p>
          <a:pPr algn="l" rtl="0"/>
          <a:r>
            <a:rPr lang="es-ES" sz="1200" dirty="0" err="1">
              <a:solidFill>
                <a:schemeClr val="bg1"/>
              </a:solidFill>
            </a:rPr>
            <a:t>Power</a:t>
          </a:r>
          <a:r>
            <a:rPr lang="es-ES" sz="1200" dirty="0">
              <a:solidFill>
                <a:schemeClr val="bg1"/>
              </a:solidFill>
            </a:rPr>
            <a:t> </a:t>
          </a:r>
          <a:r>
            <a:rPr lang="es-ES" sz="1200" dirty="0" err="1">
              <a:solidFill>
                <a:schemeClr val="bg1"/>
              </a:solidFill>
            </a:rPr>
            <a:t>Optimization</a:t>
          </a:r>
          <a:endParaRPr lang="es-ES" sz="1200" dirty="0">
            <a:solidFill>
              <a:schemeClr val="bg1"/>
            </a:solidFill>
            <a:latin typeface="Calibri"/>
          </a:endParaRPr>
        </a:p>
      </dgm:t>
    </dgm:pt>
    <dgm:pt modelId="{0A801BF9-503A-4BB2-952B-A7B4AD03EED6}" type="parTrans" cxnId="{2A1D90B0-F0EF-4CAA-A4E2-B50BDBAB0958}">
      <dgm:prSet/>
      <dgm:spPr/>
    </dgm:pt>
    <dgm:pt modelId="{0BE5C081-640D-4D03-A4F0-BD6C93CDBF64}" type="sibTrans" cxnId="{2A1D90B0-F0EF-4CAA-A4E2-B50BDBAB0958}">
      <dgm:prSet/>
      <dgm:spPr/>
    </dgm:pt>
    <dgm:pt modelId="{FF19ACF5-8F2C-48D3-8EB5-50D27619E0E5}">
      <dgm:prSet phldr="0"/>
      <dgm:spPr/>
      <dgm:t>
        <a:bodyPr/>
        <a:lstStyle/>
        <a:p>
          <a:pPr algn="l" rtl="0"/>
          <a:r>
            <a:rPr lang="es-ES" sz="1200" dirty="0" err="1">
              <a:solidFill>
                <a:schemeClr val="bg1"/>
              </a:solidFill>
            </a:rPr>
            <a:t>Sustainability</a:t>
          </a:r>
          <a:r>
            <a:rPr lang="es-ES" sz="1200" dirty="0">
              <a:solidFill>
                <a:schemeClr val="bg1"/>
              </a:solidFill>
            </a:rPr>
            <a:t> and Energy </a:t>
          </a:r>
          <a:r>
            <a:rPr lang="es-ES" sz="1200" dirty="0" err="1">
              <a:solidFill>
                <a:schemeClr val="bg1"/>
              </a:solidFill>
            </a:rPr>
            <a:t>Harvesting</a:t>
          </a:r>
          <a:endParaRPr lang="es-ES" sz="1200" dirty="0">
            <a:solidFill>
              <a:schemeClr val="bg1"/>
            </a:solidFill>
            <a:latin typeface="Calibri"/>
          </a:endParaRPr>
        </a:p>
      </dgm:t>
    </dgm:pt>
    <dgm:pt modelId="{7BC767B6-5441-4EC6-9B66-A92F30510286}" type="parTrans" cxnId="{A16814A2-B1BA-46C8-AB03-FEFEB2E7A767}">
      <dgm:prSet/>
      <dgm:spPr/>
    </dgm:pt>
    <dgm:pt modelId="{1A8E4260-C444-47BD-9919-CB19EF061A19}" type="sibTrans" cxnId="{A16814A2-B1BA-46C8-AB03-FEFEB2E7A767}">
      <dgm:prSet/>
      <dgm:spPr/>
    </dgm:pt>
    <dgm:pt modelId="{BC01B979-5D64-4C4F-BDFA-70D4144C2CF2}">
      <dgm:prSet phldr="0"/>
      <dgm:spPr/>
      <dgm:t>
        <a:bodyPr/>
        <a:lstStyle/>
        <a:p>
          <a:pPr algn="l" rtl="0"/>
          <a:r>
            <a:rPr lang="es-ES" sz="1200" dirty="0">
              <a:solidFill>
                <a:schemeClr val="bg1"/>
              </a:solidFill>
            </a:rPr>
            <a:t>Multi-</a:t>
          </a:r>
          <a:r>
            <a:rPr lang="es-ES" sz="1200" dirty="0" err="1">
              <a:solidFill>
                <a:schemeClr val="bg1"/>
              </a:solidFill>
            </a:rPr>
            <a:t>Protocol</a:t>
          </a:r>
          <a:r>
            <a:rPr lang="es-ES" sz="1200" dirty="0">
              <a:solidFill>
                <a:schemeClr val="bg1"/>
              </a:solidFill>
            </a:rPr>
            <a:t> </a:t>
          </a:r>
          <a:r>
            <a:rPr lang="es-ES" sz="1200" dirty="0" err="1">
              <a:solidFill>
                <a:schemeClr val="bg1"/>
              </a:solidFill>
            </a:rPr>
            <a:t>Redundancy</a:t>
          </a:r>
          <a:endParaRPr lang="es-ES" sz="1200" dirty="0" err="1">
            <a:solidFill>
              <a:schemeClr val="bg1"/>
            </a:solidFill>
            <a:latin typeface="Calibri"/>
          </a:endParaRPr>
        </a:p>
      </dgm:t>
    </dgm:pt>
    <dgm:pt modelId="{9E816948-056E-4BDD-8371-502978563319}" type="parTrans" cxnId="{3D516E93-7E98-4B57-A409-C9CC74A3C4DD}">
      <dgm:prSet/>
      <dgm:spPr/>
    </dgm:pt>
    <dgm:pt modelId="{E3829ADD-D927-405B-AAE8-F5863EE21F52}" type="sibTrans" cxnId="{3D516E93-7E98-4B57-A409-C9CC74A3C4DD}">
      <dgm:prSet/>
      <dgm:spPr/>
    </dgm:pt>
    <dgm:pt modelId="{70B2322E-1C72-46F1-9F98-AACB3DF7FE88}">
      <dgm:prSet phldr="0"/>
      <dgm:spPr/>
      <dgm:t>
        <a:bodyPr/>
        <a:lstStyle/>
        <a:p>
          <a:pPr rtl="0"/>
          <a:r>
            <a:rPr lang="es-ES" sz="800" dirty="0" err="1">
              <a:solidFill>
                <a:schemeClr val="bg1"/>
              </a:solidFill>
              <a:latin typeface="Calibri"/>
            </a:rPr>
            <a:t>Historical</a:t>
          </a:r>
          <a:r>
            <a:rPr lang="es-ES" sz="800" dirty="0">
              <a:solidFill>
                <a:schemeClr val="bg1"/>
              </a:solidFill>
            </a:rPr>
            <a:t> data </a:t>
          </a:r>
          <a:r>
            <a:rPr lang="es-ES" sz="800" dirty="0" err="1">
              <a:solidFill>
                <a:schemeClr val="bg1"/>
              </a:solidFill>
            </a:rPr>
            <a:t>stored</a:t>
          </a:r>
          <a:r>
            <a:rPr lang="es-ES" sz="800" dirty="0">
              <a:solidFill>
                <a:schemeClr val="bg1"/>
              </a:solidFill>
            </a:rPr>
            <a:t> in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ThingsBoard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Telemetry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Database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to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implement</a:t>
          </a:r>
          <a:r>
            <a:rPr lang="es-ES" sz="800" dirty="0">
              <a:solidFill>
                <a:schemeClr val="bg1"/>
              </a:solidFill>
            </a:rPr>
            <a:t> machine </a:t>
          </a:r>
          <a:r>
            <a:rPr lang="es-ES" sz="800" dirty="0" err="1">
              <a:solidFill>
                <a:schemeClr val="bg1"/>
              </a:solidFill>
            </a:rPr>
            <a:t>learning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models</a:t>
          </a:r>
          <a:r>
            <a:rPr lang="es-ES" sz="800" dirty="0">
              <a:solidFill>
                <a:schemeClr val="bg1"/>
              </a:solidFill>
            </a:rPr>
            <a:t> at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Edge </a:t>
          </a:r>
          <a:r>
            <a:rPr lang="es-ES" sz="800" dirty="0" err="1">
              <a:solidFill>
                <a:schemeClr val="bg1"/>
              </a:solidFill>
            </a:rPr>
            <a:t>for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predicting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egg-laying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patterns</a:t>
          </a:r>
          <a:r>
            <a:rPr lang="es-ES" sz="800" dirty="0">
              <a:solidFill>
                <a:schemeClr val="bg1"/>
              </a:solidFill>
            </a:rPr>
            <a:t> and </a:t>
          </a:r>
          <a:r>
            <a:rPr lang="es-ES" sz="800" dirty="0" err="1">
              <a:solidFill>
                <a:schemeClr val="bg1"/>
              </a:solidFill>
            </a:rPr>
            <a:t>identifying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illness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based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environmental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anomalies</a:t>
          </a:r>
          <a:r>
            <a:rPr lang="es-ES" sz="800" dirty="0">
              <a:solidFill>
                <a:schemeClr val="bg1"/>
              </a:solidFill>
            </a:rPr>
            <a:t>.</a:t>
          </a:r>
        </a:p>
      </dgm:t>
    </dgm:pt>
    <dgm:pt modelId="{6257648E-E00C-4D90-8730-750D448F3392}" type="parTrans" cxnId="{4A1CD0F5-C31B-458D-BDB0-BB7C28634297}">
      <dgm:prSet/>
      <dgm:spPr/>
    </dgm:pt>
    <dgm:pt modelId="{256AB139-B9F0-4C21-986A-EDF64CD4CFCB}" type="sibTrans" cxnId="{4A1CD0F5-C31B-458D-BDB0-BB7C28634297}">
      <dgm:prSet/>
      <dgm:spPr/>
    </dgm:pt>
    <dgm:pt modelId="{EE747618-43FF-4368-97FB-C044F1DA589B}">
      <dgm:prSet phldr="0"/>
      <dgm:spPr/>
      <dgm:t>
        <a:bodyPr/>
        <a:lstStyle/>
        <a:p>
          <a:r>
            <a:rPr lang="es-ES" sz="800" dirty="0" err="1">
              <a:solidFill>
                <a:schemeClr val="bg1"/>
              </a:solidFill>
            </a:rPr>
            <a:t>Better</a:t>
          </a:r>
          <a:r>
            <a:rPr lang="es-ES" sz="800" dirty="0">
              <a:solidFill>
                <a:schemeClr val="bg1"/>
              </a:solidFill>
            </a:rPr>
            <a:t> control </a:t>
          </a:r>
          <a:r>
            <a:rPr lang="es-ES" sz="800" dirty="0" err="1">
              <a:solidFill>
                <a:schemeClr val="bg1"/>
              </a:solidFill>
            </a:rPr>
            <a:t>of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users</a:t>
          </a:r>
          <a:r>
            <a:rPr lang="es-ES" sz="800" dirty="0">
              <a:solidFill>
                <a:schemeClr val="bg1"/>
              </a:solidFill>
            </a:rPr>
            <a:t> and </a:t>
          </a:r>
          <a:r>
            <a:rPr lang="es-ES" sz="800" dirty="0" err="1">
              <a:solidFill>
                <a:schemeClr val="bg1"/>
              </a:solidFill>
            </a:rPr>
            <a:t>actions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that</a:t>
          </a:r>
          <a:r>
            <a:rPr lang="es-ES" sz="800" dirty="0">
              <a:solidFill>
                <a:schemeClr val="bg1"/>
              </a:solidFill>
            </a:rPr>
            <a:t> are </a:t>
          </a:r>
          <a:r>
            <a:rPr lang="es-ES" sz="800" dirty="0" err="1">
              <a:solidFill>
                <a:schemeClr val="bg1"/>
              </a:solidFill>
            </a:rPr>
            <a:t>able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to</a:t>
          </a:r>
          <a:r>
            <a:rPr lang="es-ES" sz="800" dirty="0">
              <a:solidFill>
                <a:schemeClr val="bg1"/>
              </a:solidFill>
            </a:rPr>
            <a:t> be done </a:t>
          </a:r>
          <a:r>
            <a:rPr lang="es-ES" sz="800" dirty="0" err="1">
              <a:solidFill>
                <a:schemeClr val="bg1"/>
              </a:solidFill>
            </a:rPr>
            <a:t>with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bot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such</a:t>
          </a:r>
          <a:r>
            <a:rPr lang="es-ES" sz="800" dirty="0">
              <a:solidFill>
                <a:schemeClr val="bg1"/>
              </a:solidFill>
            </a:rPr>
            <a:t> as </a:t>
          </a:r>
          <a:r>
            <a:rPr lang="es-ES" sz="800" dirty="0" err="1">
              <a:solidFill>
                <a:schemeClr val="bg1"/>
              </a:solidFill>
            </a:rPr>
            <a:t>creating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UIDs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for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animals</a:t>
          </a:r>
          <a:r>
            <a:rPr lang="es-ES" sz="800" dirty="0">
              <a:solidFill>
                <a:schemeClr val="bg1"/>
              </a:solidFill>
            </a:rPr>
            <a:t> and </a:t>
          </a:r>
          <a:r>
            <a:rPr lang="es-ES" sz="800" dirty="0" err="1">
              <a:solidFill>
                <a:schemeClr val="bg1"/>
              </a:solidFill>
            </a:rPr>
            <a:t>users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controlling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door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implementing</a:t>
          </a:r>
          <a:r>
            <a:rPr lang="es-ES" sz="800" dirty="0">
              <a:solidFill>
                <a:schemeClr val="bg1"/>
              </a:solidFill>
            </a:rPr>
            <a:t> more </a:t>
          </a:r>
          <a:r>
            <a:rPr lang="es-ES" sz="800" dirty="0" err="1">
              <a:solidFill>
                <a:schemeClr val="bg1"/>
              </a:solidFill>
            </a:rPr>
            <a:t>types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of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birds</a:t>
          </a:r>
          <a:r>
            <a:rPr lang="es-ES" sz="800" dirty="0">
              <a:solidFill>
                <a:schemeClr val="bg1"/>
              </a:solidFill>
            </a:rPr>
            <a:t>.</a:t>
          </a:r>
        </a:p>
      </dgm:t>
    </dgm:pt>
    <dgm:pt modelId="{48F9DBC6-3DC5-42B0-9BD3-3E860B4ECF8A}" type="parTrans" cxnId="{EFA4B199-5A59-4B7C-B189-44C6C8A5B869}">
      <dgm:prSet/>
      <dgm:spPr/>
    </dgm:pt>
    <dgm:pt modelId="{091F6718-8308-4A47-894B-35120A5D6017}" type="sibTrans" cxnId="{EFA4B199-5A59-4B7C-B189-44C6C8A5B869}">
      <dgm:prSet/>
      <dgm:spPr/>
    </dgm:pt>
    <dgm:pt modelId="{B891BFE3-3A7A-43EF-B1FE-BB036F013E8D}">
      <dgm:prSet phldr="0"/>
      <dgm:spPr/>
      <dgm:t>
        <a:bodyPr/>
        <a:lstStyle/>
        <a:p>
          <a:pPr rtl="0"/>
          <a:r>
            <a:rPr lang="es-ES" sz="800" dirty="0" err="1">
              <a:solidFill>
                <a:schemeClr val="bg1"/>
              </a:solidFill>
            </a:rPr>
            <a:t>Develop</a:t>
          </a:r>
          <a:r>
            <a:rPr lang="es-ES" sz="800" dirty="0">
              <a:solidFill>
                <a:schemeClr val="bg1"/>
              </a:solidFill>
            </a:rPr>
            <a:t> more </a:t>
          </a:r>
          <a:r>
            <a:rPr lang="es-ES" sz="800" dirty="0" err="1">
              <a:solidFill>
                <a:schemeClr val="bg1"/>
              </a:solidFill>
            </a:rPr>
            <a:t>visualizations</a:t>
          </a:r>
          <a:r>
            <a:rPr lang="es-ES" sz="800" dirty="0">
              <a:solidFill>
                <a:schemeClr val="bg1"/>
              </a:solidFill>
            </a:rPr>
            <a:t> and </a:t>
          </a:r>
          <a:r>
            <a:rPr lang="es-ES" sz="800" dirty="0" err="1">
              <a:solidFill>
                <a:schemeClr val="bg1"/>
              </a:solidFill>
            </a:rPr>
            <a:t>alerting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mechanisms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  <a:latin typeface="Calibri"/>
            </a:rPr>
            <a:t>the</a:t>
          </a:r>
          <a:r>
            <a:rPr lang="es-ES" sz="800" dirty="0">
              <a:solidFill>
                <a:schemeClr val="bg1"/>
              </a:solidFill>
              <a:latin typeface="Calibri"/>
            </a:rPr>
            <a:t> </a:t>
          </a:r>
          <a:r>
            <a:rPr lang="es-ES" sz="800" dirty="0" err="1">
              <a:solidFill>
                <a:schemeClr val="bg1"/>
              </a:solidFill>
              <a:latin typeface="Calibri"/>
            </a:rPr>
            <a:t>dashboard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including</a:t>
          </a:r>
          <a:r>
            <a:rPr lang="es-ES" sz="800" dirty="0">
              <a:solidFill>
                <a:schemeClr val="bg1"/>
              </a:solidFill>
            </a:rPr>
            <a:t> real-time </a:t>
          </a:r>
          <a:r>
            <a:rPr lang="es-ES" sz="800" dirty="0" err="1">
              <a:solidFill>
                <a:schemeClr val="bg1"/>
              </a:solidFill>
            </a:rPr>
            <a:t>heatmaps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of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environmental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conditions</a:t>
          </a:r>
          <a:r>
            <a:rPr lang="es-ES" sz="800" dirty="0">
              <a:solidFill>
                <a:schemeClr val="bg1"/>
              </a:solidFill>
            </a:rPr>
            <a:t> and predictive </a:t>
          </a:r>
          <a:r>
            <a:rPr lang="es-ES" sz="800" dirty="0" err="1">
              <a:solidFill>
                <a:schemeClr val="bg1"/>
              </a:solidFill>
            </a:rPr>
            <a:t>maintenance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alerts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based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on</a:t>
          </a:r>
          <a:r>
            <a:rPr lang="es-ES" sz="800" dirty="0">
              <a:solidFill>
                <a:schemeClr val="bg1"/>
              </a:solidFill>
            </a:rPr>
            <a:t> sensor data </a:t>
          </a:r>
          <a:r>
            <a:rPr lang="es-ES" sz="800" dirty="0" err="1">
              <a:solidFill>
                <a:schemeClr val="bg1"/>
              </a:solidFill>
            </a:rPr>
            <a:t>trends</a:t>
          </a:r>
          <a:r>
            <a:rPr lang="es-ES" sz="800" dirty="0">
              <a:solidFill>
                <a:schemeClr val="bg1"/>
              </a:solidFill>
            </a:rPr>
            <a:t>.</a:t>
          </a:r>
        </a:p>
      </dgm:t>
    </dgm:pt>
    <dgm:pt modelId="{BCCF5B8A-DF40-498A-8798-DE19958B86BF}" type="parTrans" cxnId="{431FE747-CADC-4AA2-9D77-30308E99AD35}">
      <dgm:prSet/>
      <dgm:spPr/>
    </dgm:pt>
    <dgm:pt modelId="{6EE806A0-D8FF-4920-ADE2-1389D1AD2F6A}" type="sibTrans" cxnId="{431FE747-CADC-4AA2-9D77-30308E99AD35}">
      <dgm:prSet/>
      <dgm:spPr/>
    </dgm:pt>
    <dgm:pt modelId="{BFCF77E0-9C2C-4380-AE1D-6C7E0FB229A6}">
      <dgm:prSet phldr="0"/>
      <dgm:spPr/>
      <dgm:t>
        <a:bodyPr/>
        <a:lstStyle/>
        <a:p>
          <a:pPr rtl="0"/>
          <a:r>
            <a:rPr lang="es-ES" sz="800" dirty="0">
              <a:solidFill>
                <a:schemeClr val="bg1"/>
              </a:solidFill>
              <a:latin typeface="Calibri"/>
            </a:rPr>
            <a:t>Deep-</a:t>
          </a:r>
          <a:r>
            <a:rPr lang="es-ES" sz="800" dirty="0" err="1">
              <a:solidFill>
                <a:schemeClr val="bg1"/>
              </a:solidFill>
              <a:latin typeface="Calibri"/>
            </a:rPr>
            <a:t>sleep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modes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for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ESP32 </a:t>
          </a:r>
          <a:r>
            <a:rPr lang="es-ES" sz="800" dirty="0" err="1">
              <a:solidFill>
                <a:schemeClr val="bg1"/>
              </a:solidFill>
            </a:rPr>
            <a:t>to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enhance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energy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efficiency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for</a:t>
          </a:r>
          <a:r>
            <a:rPr lang="es-ES" sz="800" dirty="0">
              <a:solidFill>
                <a:schemeClr val="bg1"/>
              </a:solidFill>
            </a:rPr>
            <a:t> future </a:t>
          </a:r>
          <a:r>
            <a:rPr lang="es-ES" sz="800" dirty="0" err="1">
              <a:solidFill>
                <a:schemeClr val="bg1"/>
              </a:solidFill>
            </a:rPr>
            <a:t>deployments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using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  <a:latin typeface="Calibri"/>
            </a:rPr>
            <a:t>batteries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or</a:t>
          </a:r>
          <a:r>
            <a:rPr lang="es-ES" sz="800" dirty="0">
              <a:solidFill>
                <a:schemeClr val="bg1"/>
              </a:solidFill>
            </a:rPr>
            <a:t> solar </a:t>
          </a:r>
          <a:r>
            <a:rPr lang="es-ES" sz="800" dirty="0" err="1">
              <a:solidFill>
                <a:schemeClr val="bg1"/>
              </a:solidFill>
            </a:rPr>
            <a:t>power</a:t>
          </a:r>
          <a:r>
            <a:rPr lang="es-ES" sz="800" dirty="0">
              <a:solidFill>
                <a:schemeClr val="bg1"/>
              </a:solidFill>
            </a:rPr>
            <a:t> in remote </a:t>
          </a:r>
          <a:r>
            <a:rPr lang="es-ES" sz="800" dirty="0" err="1">
              <a:solidFill>
                <a:schemeClr val="bg1"/>
              </a:solidFill>
            </a:rPr>
            <a:t>farm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areas</a:t>
          </a:r>
          <a:r>
            <a:rPr lang="es-ES" sz="800" dirty="0">
              <a:solidFill>
                <a:schemeClr val="bg1"/>
              </a:solidFill>
            </a:rPr>
            <a:t>.</a:t>
          </a:r>
        </a:p>
      </dgm:t>
    </dgm:pt>
    <dgm:pt modelId="{A1E5A1E4-C93C-4BBB-B0A4-5C9B56FBAF9A}" type="parTrans" cxnId="{4D5EBE66-DDEE-4025-BEE0-DA31DAABF6F0}">
      <dgm:prSet/>
      <dgm:spPr/>
    </dgm:pt>
    <dgm:pt modelId="{C412E2F9-1984-4ECE-9DC9-2BA5772123BA}" type="sibTrans" cxnId="{4D5EBE66-DDEE-4025-BEE0-DA31DAABF6F0}">
      <dgm:prSet/>
      <dgm:spPr/>
    </dgm:pt>
    <dgm:pt modelId="{EBB93CF1-9866-486A-8A35-4FC1DD73F18D}">
      <dgm:prSet phldr="0"/>
      <dgm:spPr/>
      <dgm:t>
        <a:bodyPr/>
        <a:lstStyle/>
        <a:p>
          <a:r>
            <a:rPr lang="es-ES" sz="800" dirty="0" err="1">
              <a:solidFill>
                <a:schemeClr val="bg1"/>
              </a:solidFill>
            </a:rPr>
            <a:t>Research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integration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of</a:t>
          </a:r>
          <a:r>
            <a:rPr lang="es-ES" sz="800" dirty="0">
              <a:solidFill>
                <a:schemeClr val="bg1"/>
              </a:solidFill>
            </a:rPr>
            <a:t> solar </a:t>
          </a:r>
          <a:r>
            <a:rPr lang="es-ES" sz="800" dirty="0" err="1">
              <a:solidFill>
                <a:schemeClr val="bg1"/>
              </a:solidFill>
            </a:rPr>
            <a:t>photovoltaic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panels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to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create</a:t>
          </a:r>
          <a:r>
            <a:rPr lang="es-ES" sz="800" dirty="0">
              <a:solidFill>
                <a:schemeClr val="bg1"/>
              </a:solidFill>
            </a:rPr>
            <a:t> a </a:t>
          </a:r>
          <a:r>
            <a:rPr lang="es-ES" sz="800" dirty="0" err="1">
              <a:solidFill>
                <a:schemeClr val="bg1"/>
              </a:solidFill>
            </a:rPr>
            <a:t>maintenance</a:t>
          </a:r>
          <a:r>
            <a:rPr lang="es-ES" sz="800" dirty="0">
              <a:solidFill>
                <a:schemeClr val="bg1"/>
              </a:solidFill>
            </a:rPr>
            <a:t>-free </a:t>
          </a:r>
          <a:r>
            <a:rPr lang="es-ES" sz="800" dirty="0" err="1">
              <a:solidFill>
                <a:schemeClr val="bg1"/>
              </a:solidFill>
            </a:rPr>
            <a:t>energy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cycle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for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NEST </a:t>
          </a:r>
          <a:r>
            <a:rPr lang="es-ES" sz="800" dirty="0" err="1">
              <a:solidFill>
                <a:schemeClr val="bg1"/>
              </a:solidFill>
            </a:rPr>
            <a:t>device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reducing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reliance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on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external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power</a:t>
          </a:r>
          <a:r>
            <a:rPr lang="es-ES" sz="800" dirty="0">
              <a:solidFill>
                <a:schemeClr val="bg1"/>
              </a:solidFill>
            </a:rPr>
            <a:t> bridges.</a:t>
          </a:r>
        </a:p>
      </dgm:t>
    </dgm:pt>
    <dgm:pt modelId="{D510146D-F7C7-4C77-9636-279422C1412E}" type="parTrans" cxnId="{763F3F20-9B91-4D0B-8378-913041361B60}">
      <dgm:prSet/>
      <dgm:spPr/>
    </dgm:pt>
    <dgm:pt modelId="{370E2ABF-9B3C-4978-BE9D-E406E9373E04}" type="sibTrans" cxnId="{763F3F20-9B91-4D0B-8378-913041361B60}">
      <dgm:prSet/>
      <dgm:spPr/>
    </dgm:pt>
    <dgm:pt modelId="{305714B4-A623-48E7-8B3E-F30A1C2190A4}">
      <dgm:prSet phldr="0"/>
      <dgm:spPr/>
      <dgm:t>
        <a:bodyPr/>
        <a:lstStyle/>
        <a:p>
          <a:r>
            <a:rPr lang="es-ES" sz="800" dirty="0" err="1">
              <a:solidFill>
                <a:schemeClr val="bg1"/>
              </a:solidFill>
            </a:rPr>
            <a:t>Implement</a:t>
          </a:r>
          <a:r>
            <a:rPr lang="es-ES" sz="800" dirty="0">
              <a:solidFill>
                <a:schemeClr val="bg1"/>
              </a:solidFill>
            </a:rPr>
            <a:t> a </a:t>
          </a:r>
          <a:r>
            <a:rPr lang="es-ES" sz="800" dirty="0" err="1">
              <a:solidFill>
                <a:schemeClr val="bg1"/>
              </a:solidFill>
            </a:rPr>
            <a:t>fallback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communication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strategy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using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LoRaWAN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to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ensure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that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critical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alarms</a:t>
          </a:r>
          <a:r>
            <a:rPr lang="es-ES" sz="800" dirty="0">
              <a:solidFill>
                <a:schemeClr val="bg1"/>
              </a:solidFill>
            </a:rPr>
            <a:t> and </a:t>
          </a:r>
          <a:r>
            <a:rPr lang="es-ES" sz="800" dirty="0" err="1">
              <a:solidFill>
                <a:schemeClr val="bg1"/>
              </a:solidFill>
            </a:rPr>
            <a:t>autonomous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edge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decisions</a:t>
          </a:r>
          <a:r>
            <a:rPr lang="es-ES" sz="800" dirty="0">
              <a:solidFill>
                <a:schemeClr val="bg1"/>
              </a:solidFill>
            </a:rPr>
            <a:t> are </a:t>
          </a:r>
          <a:r>
            <a:rPr lang="es-ES" sz="800" dirty="0" err="1">
              <a:solidFill>
                <a:schemeClr val="bg1"/>
              </a:solidFill>
            </a:rPr>
            <a:t>transmitted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even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during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Wi</a:t>
          </a:r>
          <a:r>
            <a:rPr lang="es-ES" sz="800" dirty="0">
              <a:solidFill>
                <a:schemeClr val="bg1"/>
              </a:solidFill>
            </a:rPr>
            <a:t>-Fi </a:t>
          </a:r>
          <a:r>
            <a:rPr lang="es-ES" sz="800" dirty="0" err="1">
              <a:solidFill>
                <a:schemeClr val="bg1"/>
              </a:solidFill>
            </a:rPr>
            <a:t>outages</a:t>
          </a:r>
          <a:r>
            <a:rPr lang="es-ES" sz="800" dirty="0">
              <a:solidFill>
                <a:schemeClr val="bg1"/>
              </a:solidFill>
            </a:rPr>
            <a:t>, </a:t>
          </a:r>
          <a:r>
            <a:rPr lang="es-ES" sz="800" dirty="0" err="1">
              <a:solidFill>
                <a:schemeClr val="bg1"/>
              </a:solidFill>
            </a:rPr>
            <a:t>which</a:t>
          </a:r>
          <a:r>
            <a:rPr lang="es-ES" sz="800" dirty="0">
              <a:solidFill>
                <a:schemeClr val="bg1"/>
              </a:solidFill>
            </a:rPr>
            <a:t> are </a:t>
          </a:r>
          <a:r>
            <a:rPr lang="es-ES" sz="800" dirty="0" err="1">
              <a:solidFill>
                <a:schemeClr val="bg1"/>
              </a:solidFill>
            </a:rPr>
            <a:t>common</a:t>
          </a:r>
          <a:r>
            <a:rPr lang="es-ES" sz="800" dirty="0">
              <a:solidFill>
                <a:schemeClr val="bg1"/>
              </a:solidFill>
            </a:rPr>
            <a:t> in rural </a:t>
          </a:r>
          <a:r>
            <a:rPr lang="es-ES" sz="800" dirty="0" err="1">
              <a:solidFill>
                <a:schemeClr val="bg1"/>
              </a:solidFill>
            </a:rPr>
            <a:t>farming</a:t>
          </a:r>
          <a:r>
            <a:rPr lang="es-ES" sz="800" dirty="0">
              <a:solidFill>
                <a:schemeClr val="bg1"/>
              </a:solidFill>
            </a:rPr>
            <a:t> </a:t>
          </a:r>
          <a:r>
            <a:rPr lang="es-ES" sz="800" dirty="0" err="1">
              <a:solidFill>
                <a:schemeClr val="bg1"/>
              </a:solidFill>
            </a:rPr>
            <a:t>environments</a:t>
          </a:r>
          <a:r>
            <a:rPr lang="es-ES" sz="800" dirty="0">
              <a:solidFill>
                <a:schemeClr val="bg1"/>
              </a:solidFill>
            </a:rPr>
            <a:t>.</a:t>
          </a:r>
        </a:p>
      </dgm:t>
    </dgm:pt>
    <dgm:pt modelId="{DC4F3D50-5126-47A5-9365-84B559191AB5}" type="parTrans" cxnId="{34B55AC9-AB4A-4FB0-8545-50974AE1C98D}">
      <dgm:prSet/>
      <dgm:spPr/>
    </dgm:pt>
    <dgm:pt modelId="{0978637C-AC67-454C-AE61-A44DB59806AE}" type="sibTrans" cxnId="{34B55AC9-AB4A-4FB0-8545-50974AE1C98D}">
      <dgm:prSet/>
      <dgm:spPr/>
    </dgm:pt>
    <dgm:pt modelId="{A290D4D5-06A7-46F6-A9EE-2B9F4B93FFF9}" type="pres">
      <dgm:prSet presAssocID="{AD3C3B63-DCC2-480F-B8F4-6F521500062F}" presName="diagram" presStyleCnt="0">
        <dgm:presLayoutVars>
          <dgm:dir/>
          <dgm:resizeHandles val="exact"/>
        </dgm:presLayoutVars>
      </dgm:prSet>
      <dgm:spPr/>
    </dgm:pt>
    <dgm:pt modelId="{61063A3B-FDB5-4364-A9C1-017D1349E9ED}" type="pres">
      <dgm:prSet presAssocID="{40F5B15D-AE2F-48B2-B8BE-C28BB0DF8F9E}" presName="node" presStyleLbl="node1" presStyleIdx="0" presStyleCnt="6">
        <dgm:presLayoutVars>
          <dgm:bulletEnabled val="1"/>
        </dgm:presLayoutVars>
      </dgm:prSet>
      <dgm:spPr/>
    </dgm:pt>
    <dgm:pt modelId="{436B9343-A6C0-46EE-B8CE-E87DF0DC2F02}" type="pres">
      <dgm:prSet presAssocID="{CBCBCB13-7FEE-4FEF-A0A5-279C7BD66291}" presName="sibTrans" presStyleCnt="0"/>
      <dgm:spPr/>
    </dgm:pt>
    <dgm:pt modelId="{E5558599-4846-4E4C-8B9C-776556FAA308}" type="pres">
      <dgm:prSet presAssocID="{1D2FA4BB-C18D-40CA-9C8A-BD4CC6FD2583}" presName="node" presStyleLbl="node1" presStyleIdx="1" presStyleCnt="6">
        <dgm:presLayoutVars>
          <dgm:bulletEnabled val="1"/>
        </dgm:presLayoutVars>
      </dgm:prSet>
      <dgm:spPr/>
    </dgm:pt>
    <dgm:pt modelId="{8C09DD11-0C19-42BC-A00E-C0DAA3A7FAE2}" type="pres">
      <dgm:prSet presAssocID="{DA116578-EE37-44B2-9A64-9F9D4BD92A8F}" presName="sibTrans" presStyleCnt="0"/>
      <dgm:spPr/>
    </dgm:pt>
    <dgm:pt modelId="{762ABA03-31D4-4E17-9E47-ADCF5F1ADFE4}" type="pres">
      <dgm:prSet presAssocID="{86E57960-CEF8-4426-9F2B-64AEB1BADD49}" presName="node" presStyleLbl="node1" presStyleIdx="2" presStyleCnt="6">
        <dgm:presLayoutVars>
          <dgm:bulletEnabled val="1"/>
        </dgm:presLayoutVars>
      </dgm:prSet>
      <dgm:spPr/>
    </dgm:pt>
    <dgm:pt modelId="{A2FED998-9A68-412F-B736-9CA1D0302CF0}" type="pres">
      <dgm:prSet presAssocID="{C569C6F7-58DD-490D-BBF5-104DAE0D406F}" presName="sibTrans" presStyleCnt="0"/>
      <dgm:spPr/>
    </dgm:pt>
    <dgm:pt modelId="{E7B9C771-1EFF-4D4B-A8A7-DE6BFF328AB2}" type="pres">
      <dgm:prSet presAssocID="{777FA8A4-7A98-44FA-BF87-6AE2A126BD89}" presName="node" presStyleLbl="node1" presStyleIdx="3" presStyleCnt="6">
        <dgm:presLayoutVars>
          <dgm:bulletEnabled val="1"/>
        </dgm:presLayoutVars>
      </dgm:prSet>
      <dgm:spPr/>
    </dgm:pt>
    <dgm:pt modelId="{A50AC0B9-A1CB-4A22-9FE7-BD76956AB483}" type="pres">
      <dgm:prSet presAssocID="{0BE5C081-640D-4D03-A4F0-BD6C93CDBF64}" presName="sibTrans" presStyleCnt="0"/>
      <dgm:spPr/>
    </dgm:pt>
    <dgm:pt modelId="{A5891774-BC05-47DF-AA20-C312EE391342}" type="pres">
      <dgm:prSet presAssocID="{FF19ACF5-8F2C-48D3-8EB5-50D27619E0E5}" presName="node" presStyleLbl="node1" presStyleIdx="4" presStyleCnt="6">
        <dgm:presLayoutVars>
          <dgm:bulletEnabled val="1"/>
        </dgm:presLayoutVars>
      </dgm:prSet>
      <dgm:spPr/>
    </dgm:pt>
    <dgm:pt modelId="{D6CBC3C4-6FF6-4DBD-BEE7-9DA454DF4347}" type="pres">
      <dgm:prSet presAssocID="{1A8E4260-C444-47BD-9919-CB19EF061A19}" presName="sibTrans" presStyleCnt="0"/>
      <dgm:spPr/>
    </dgm:pt>
    <dgm:pt modelId="{8AB79902-A949-4469-AC69-34A9C621245E}" type="pres">
      <dgm:prSet presAssocID="{BC01B979-5D64-4C4F-BDFA-70D4144C2CF2}" presName="node" presStyleLbl="node1" presStyleIdx="5" presStyleCnt="6">
        <dgm:presLayoutVars>
          <dgm:bulletEnabled val="1"/>
        </dgm:presLayoutVars>
      </dgm:prSet>
      <dgm:spPr/>
    </dgm:pt>
  </dgm:ptLst>
  <dgm:cxnLst>
    <dgm:cxn modelId="{9862E70E-2A63-412B-912A-E3E732A66298}" srcId="{AD3C3B63-DCC2-480F-B8F4-6F521500062F}" destId="{40F5B15D-AE2F-48B2-B8BE-C28BB0DF8F9E}" srcOrd="0" destOrd="0" parTransId="{A3268D90-2045-4574-A524-D73AE38AE650}" sibTransId="{CBCBCB13-7FEE-4FEF-A0A5-279C7BD66291}"/>
    <dgm:cxn modelId="{763F3F20-9B91-4D0B-8378-913041361B60}" srcId="{FF19ACF5-8F2C-48D3-8EB5-50D27619E0E5}" destId="{EBB93CF1-9866-486A-8A35-4FC1DD73F18D}" srcOrd="0" destOrd="0" parTransId="{D510146D-F7C7-4C77-9636-279422C1412E}" sibTransId="{370E2ABF-9B3C-4978-BE9D-E406E9373E04}"/>
    <dgm:cxn modelId="{54E1E22A-510A-4344-96FF-50F44BB7E62D}" type="presOf" srcId="{40F5B15D-AE2F-48B2-B8BE-C28BB0DF8F9E}" destId="{61063A3B-FDB5-4364-A9C1-017D1349E9ED}" srcOrd="0" destOrd="0" presId="urn:microsoft.com/office/officeart/2005/8/layout/default"/>
    <dgm:cxn modelId="{C78C0F2B-DFB1-40BD-8844-D726F50CDB30}" type="presOf" srcId="{B891BFE3-3A7A-43EF-B1FE-BB036F013E8D}" destId="{762ABA03-31D4-4E17-9E47-ADCF5F1ADFE4}" srcOrd="0" destOrd="1" presId="urn:microsoft.com/office/officeart/2005/8/layout/default"/>
    <dgm:cxn modelId="{8F0D133B-277D-44BC-8E2D-2D693D2E6EA1}" srcId="{AD3C3B63-DCC2-480F-B8F4-6F521500062F}" destId="{1D2FA4BB-C18D-40CA-9C8A-BD4CC6FD2583}" srcOrd="1" destOrd="0" parTransId="{4DBE0215-CB29-423C-93F6-15176A4BD60A}" sibTransId="{DA116578-EE37-44B2-9A64-9F9D4BD92A8F}"/>
    <dgm:cxn modelId="{4D5EBE66-DDEE-4025-BEE0-DA31DAABF6F0}" srcId="{777FA8A4-7A98-44FA-BF87-6AE2A126BD89}" destId="{BFCF77E0-9C2C-4380-AE1D-6C7E0FB229A6}" srcOrd="0" destOrd="0" parTransId="{A1E5A1E4-C93C-4BBB-B0A4-5C9B56FBAF9A}" sibTransId="{C412E2F9-1984-4ECE-9DC9-2BA5772123BA}"/>
    <dgm:cxn modelId="{431FE747-CADC-4AA2-9D77-30308E99AD35}" srcId="{86E57960-CEF8-4426-9F2B-64AEB1BADD49}" destId="{B891BFE3-3A7A-43EF-B1FE-BB036F013E8D}" srcOrd="0" destOrd="0" parTransId="{BCCF5B8A-DF40-498A-8798-DE19958B86BF}" sibTransId="{6EE806A0-D8FF-4920-ADE2-1389D1AD2F6A}"/>
    <dgm:cxn modelId="{30540A54-267A-4583-B1A9-56F1014AE735}" type="presOf" srcId="{305714B4-A623-48E7-8B3E-F30A1C2190A4}" destId="{8AB79902-A949-4469-AC69-34A9C621245E}" srcOrd="0" destOrd="1" presId="urn:microsoft.com/office/officeart/2005/8/layout/default"/>
    <dgm:cxn modelId="{3F896D78-E7D5-40EB-9ADB-FE8A51B64334}" type="presOf" srcId="{AD3C3B63-DCC2-480F-B8F4-6F521500062F}" destId="{A290D4D5-06A7-46F6-A9EE-2B9F4B93FFF9}" srcOrd="0" destOrd="0" presId="urn:microsoft.com/office/officeart/2005/8/layout/default"/>
    <dgm:cxn modelId="{58C8887A-4E52-4BF6-B183-BF30D3A9575F}" type="presOf" srcId="{BFCF77E0-9C2C-4380-AE1D-6C7E0FB229A6}" destId="{E7B9C771-1EFF-4D4B-A8A7-DE6BFF328AB2}" srcOrd="0" destOrd="1" presId="urn:microsoft.com/office/officeart/2005/8/layout/default"/>
    <dgm:cxn modelId="{38A8488C-9914-4C8E-BE6B-BE1A40D37CD1}" srcId="{AD3C3B63-DCC2-480F-B8F4-6F521500062F}" destId="{86E57960-CEF8-4426-9F2B-64AEB1BADD49}" srcOrd="2" destOrd="0" parTransId="{F7322BA9-C065-49A0-B9F0-B8EBCD731C24}" sibTransId="{C569C6F7-58DD-490D-BBF5-104DAE0D406F}"/>
    <dgm:cxn modelId="{3D516E93-7E98-4B57-A409-C9CC74A3C4DD}" srcId="{AD3C3B63-DCC2-480F-B8F4-6F521500062F}" destId="{BC01B979-5D64-4C4F-BDFA-70D4144C2CF2}" srcOrd="5" destOrd="0" parTransId="{9E816948-056E-4BDD-8371-502978563319}" sibTransId="{E3829ADD-D927-405B-AAE8-F5863EE21F52}"/>
    <dgm:cxn modelId="{EFA4B199-5A59-4B7C-B189-44C6C8A5B869}" srcId="{1D2FA4BB-C18D-40CA-9C8A-BD4CC6FD2583}" destId="{EE747618-43FF-4368-97FB-C044F1DA589B}" srcOrd="0" destOrd="0" parTransId="{48F9DBC6-3DC5-42B0-9BD3-3E860B4ECF8A}" sibTransId="{091F6718-8308-4A47-894B-35120A5D6017}"/>
    <dgm:cxn modelId="{906AB99C-341C-41BD-8C65-F0D24C895806}" type="presOf" srcId="{86E57960-CEF8-4426-9F2B-64AEB1BADD49}" destId="{762ABA03-31D4-4E17-9E47-ADCF5F1ADFE4}" srcOrd="0" destOrd="0" presId="urn:microsoft.com/office/officeart/2005/8/layout/default"/>
    <dgm:cxn modelId="{F3D0BC9D-A170-4B97-AF4D-D40A4DE158D1}" type="presOf" srcId="{FF19ACF5-8F2C-48D3-8EB5-50D27619E0E5}" destId="{A5891774-BC05-47DF-AA20-C312EE391342}" srcOrd="0" destOrd="0" presId="urn:microsoft.com/office/officeart/2005/8/layout/default"/>
    <dgm:cxn modelId="{A16814A2-B1BA-46C8-AB03-FEFEB2E7A767}" srcId="{AD3C3B63-DCC2-480F-B8F4-6F521500062F}" destId="{FF19ACF5-8F2C-48D3-8EB5-50D27619E0E5}" srcOrd="4" destOrd="0" parTransId="{7BC767B6-5441-4EC6-9B66-A92F30510286}" sibTransId="{1A8E4260-C444-47BD-9919-CB19EF061A19}"/>
    <dgm:cxn modelId="{2A1D90B0-F0EF-4CAA-A4E2-B50BDBAB0958}" srcId="{AD3C3B63-DCC2-480F-B8F4-6F521500062F}" destId="{777FA8A4-7A98-44FA-BF87-6AE2A126BD89}" srcOrd="3" destOrd="0" parTransId="{0A801BF9-503A-4BB2-952B-A7B4AD03EED6}" sibTransId="{0BE5C081-640D-4D03-A4F0-BD6C93CDBF64}"/>
    <dgm:cxn modelId="{8219BBBA-3298-4F5C-B39D-84B977176890}" type="presOf" srcId="{EE747618-43FF-4368-97FB-C044F1DA589B}" destId="{E5558599-4846-4E4C-8B9C-776556FAA308}" srcOrd="0" destOrd="1" presId="urn:microsoft.com/office/officeart/2005/8/layout/default"/>
    <dgm:cxn modelId="{34B55AC9-AB4A-4FB0-8545-50974AE1C98D}" srcId="{BC01B979-5D64-4C4F-BDFA-70D4144C2CF2}" destId="{305714B4-A623-48E7-8B3E-F30A1C2190A4}" srcOrd="0" destOrd="0" parTransId="{DC4F3D50-5126-47A5-9365-84B559191AB5}" sibTransId="{0978637C-AC67-454C-AE61-A44DB59806AE}"/>
    <dgm:cxn modelId="{1F22AACF-A03A-4537-B4D4-640B1FBF9195}" type="presOf" srcId="{BC01B979-5D64-4C4F-BDFA-70D4144C2CF2}" destId="{8AB79902-A949-4469-AC69-34A9C621245E}" srcOrd="0" destOrd="0" presId="urn:microsoft.com/office/officeart/2005/8/layout/default"/>
    <dgm:cxn modelId="{AEC514D3-A8D7-4DAA-A813-F9D1365EA250}" type="presOf" srcId="{EBB93CF1-9866-486A-8A35-4FC1DD73F18D}" destId="{A5891774-BC05-47DF-AA20-C312EE391342}" srcOrd="0" destOrd="1" presId="urn:microsoft.com/office/officeart/2005/8/layout/default"/>
    <dgm:cxn modelId="{CFB3F2E2-1F82-4E70-B863-9DF615384AD6}" type="presOf" srcId="{777FA8A4-7A98-44FA-BF87-6AE2A126BD89}" destId="{E7B9C771-1EFF-4D4B-A8A7-DE6BFF328AB2}" srcOrd="0" destOrd="0" presId="urn:microsoft.com/office/officeart/2005/8/layout/default"/>
    <dgm:cxn modelId="{4A1CD0F5-C31B-458D-BDB0-BB7C28634297}" srcId="{40F5B15D-AE2F-48B2-B8BE-C28BB0DF8F9E}" destId="{70B2322E-1C72-46F1-9F98-AACB3DF7FE88}" srcOrd="0" destOrd="0" parTransId="{6257648E-E00C-4D90-8730-750D448F3392}" sibTransId="{256AB139-B9F0-4C21-986A-EDF64CD4CFCB}"/>
    <dgm:cxn modelId="{C6C2B0FF-A94F-4411-A2A6-75712CA31249}" type="presOf" srcId="{70B2322E-1C72-46F1-9F98-AACB3DF7FE88}" destId="{61063A3B-FDB5-4364-A9C1-017D1349E9ED}" srcOrd="0" destOrd="1" presId="urn:microsoft.com/office/officeart/2005/8/layout/default"/>
    <dgm:cxn modelId="{9EE3ECFF-6C53-4410-A16D-CD1FF66CB25A}" type="presOf" srcId="{1D2FA4BB-C18D-40CA-9C8A-BD4CC6FD2583}" destId="{E5558599-4846-4E4C-8B9C-776556FAA308}" srcOrd="0" destOrd="0" presId="urn:microsoft.com/office/officeart/2005/8/layout/default"/>
    <dgm:cxn modelId="{EE16B1AE-C96C-4877-B77D-D9ED4F10042F}" type="presParOf" srcId="{A290D4D5-06A7-46F6-A9EE-2B9F4B93FFF9}" destId="{61063A3B-FDB5-4364-A9C1-017D1349E9ED}" srcOrd="0" destOrd="0" presId="urn:microsoft.com/office/officeart/2005/8/layout/default"/>
    <dgm:cxn modelId="{8BF95F20-4BE4-4694-A5B3-5B80C9F844B9}" type="presParOf" srcId="{A290D4D5-06A7-46F6-A9EE-2B9F4B93FFF9}" destId="{436B9343-A6C0-46EE-B8CE-E87DF0DC2F02}" srcOrd="1" destOrd="0" presId="urn:microsoft.com/office/officeart/2005/8/layout/default"/>
    <dgm:cxn modelId="{351932FA-763B-4E64-A21C-6EEB5F0EDE15}" type="presParOf" srcId="{A290D4D5-06A7-46F6-A9EE-2B9F4B93FFF9}" destId="{E5558599-4846-4E4C-8B9C-776556FAA308}" srcOrd="2" destOrd="0" presId="urn:microsoft.com/office/officeart/2005/8/layout/default"/>
    <dgm:cxn modelId="{72CAEE07-AFB8-47B7-B433-74CF45875665}" type="presParOf" srcId="{A290D4D5-06A7-46F6-A9EE-2B9F4B93FFF9}" destId="{8C09DD11-0C19-42BC-A00E-C0DAA3A7FAE2}" srcOrd="3" destOrd="0" presId="urn:microsoft.com/office/officeart/2005/8/layout/default"/>
    <dgm:cxn modelId="{5BB859C6-09AF-4953-BB54-521C3E36CB1A}" type="presParOf" srcId="{A290D4D5-06A7-46F6-A9EE-2B9F4B93FFF9}" destId="{762ABA03-31D4-4E17-9E47-ADCF5F1ADFE4}" srcOrd="4" destOrd="0" presId="urn:microsoft.com/office/officeart/2005/8/layout/default"/>
    <dgm:cxn modelId="{D22DD4E0-77AC-45B5-9BDF-597D275721C7}" type="presParOf" srcId="{A290D4D5-06A7-46F6-A9EE-2B9F4B93FFF9}" destId="{A2FED998-9A68-412F-B736-9CA1D0302CF0}" srcOrd="5" destOrd="0" presId="urn:microsoft.com/office/officeart/2005/8/layout/default"/>
    <dgm:cxn modelId="{5A6DA736-FF80-4FA1-9FC4-B610611D9B2A}" type="presParOf" srcId="{A290D4D5-06A7-46F6-A9EE-2B9F4B93FFF9}" destId="{E7B9C771-1EFF-4D4B-A8A7-DE6BFF328AB2}" srcOrd="6" destOrd="0" presId="urn:microsoft.com/office/officeart/2005/8/layout/default"/>
    <dgm:cxn modelId="{C13E8CD5-EDA8-41D5-982A-1785A047FC1A}" type="presParOf" srcId="{A290D4D5-06A7-46F6-A9EE-2B9F4B93FFF9}" destId="{A50AC0B9-A1CB-4A22-9FE7-BD76956AB483}" srcOrd="7" destOrd="0" presId="urn:microsoft.com/office/officeart/2005/8/layout/default"/>
    <dgm:cxn modelId="{753E89DF-72E2-4920-AF20-D82A43CBFE3B}" type="presParOf" srcId="{A290D4D5-06A7-46F6-A9EE-2B9F4B93FFF9}" destId="{A5891774-BC05-47DF-AA20-C312EE391342}" srcOrd="8" destOrd="0" presId="urn:microsoft.com/office/officeart/2005/8/layout/default"/>
    <dgm:cxn modelId="{35B630FE-EF0E-4860-8D73-F103FF5CE130}" type="presParOf" srcId="{A290D4D5-06A7-46F6-A9EE-2B9F4B93FFF9}" destId="{D6CBC3C4-6FF6-4DBD-BEE7-9DA454DF4347}" srcOrd="9" destOrd="0" presId="urn:microsoft.com/office/officeart/2005/8/layout/default"/>
    <dgm:cxn modelId="{E530D452-5A5B-4728-84D7-38ADD3BF9778}" type="presParOf" srcId="{A290D4D5-06A7-46F6-A9EE-2B9F4B93FFF9}" destId="{8AB79902-A949-4469-AC69-34A9C621245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20F37-E140-4562-88F4-9A7344D006D9}">
      <dsp:nvSpPr>
        <dsp:cNvPr id="0" name=""/>
        <dsp:cNvSpPr/>
      </dsp:nvSpPr>
      <dsp:spPr>
        <a:xfrm>
          <a:off x="0" y="12357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u="none" strike="noStrike" kern="1200" noProof="0" dirty="0"/>
            <a:t>Sensing and acting (real and simulated)</a:t>
          </a:r>
          <a:endParaRPr lang="en-US" sz="2800" kern="1200" noProof="0" dirty="0"/>
        </a:p>
      </dsp:txBody>
      <dsp:txXfrm>
        <a:off x="32784" y="156360"/>
        <a:ext cx="15239432" cy="606012"/>
      </dsp:txXfrm>
    </dsp:sp>
    <dsp:sp modelId="{30E78512-661D-4A1A-BFC6-34E283FC4B67}">
      <dsp:nvSpPr>
        <dsp:cNvPr id="0" name=""/>
        <dsp:cNvSpPr/>
      </dsp:nvSpPr>
      <dsp:spPr>
        <a:xfrm>
          <a:off x="0" y="795156"/>
          <a:ext cx="15305000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u="none" strike="noStrike" kern="1200" noProof="0" dirty="0">
              <a:solidFill>
                <a:schemeClr val="tx1"/>
              </a:solidFill>
            </a:rPr>
            <a:t>The system has several sensor, like a temperature and humidity sensor and a weight sensor; and actuator like a servo motor and a RGB</a:t>
          </a:r>
          <a:endParaRPr lang="en-US" sz="2200" kern="1200" noProof="0" dirty="0">
            <a:solidFill>
              <a:schemeClr val="tx1"/>
            </a:solidFill>
          </a:endParaRPr>
        </a:p>
      </dsp:txBody>
      <dsp:txXfrm>
        <a:off x="0" y="795156"/>
        <a:ext cx="15305000" cy="695520"/>
      </dsp:txXfrm>
    </dsp:sp>
    <dsp:sp modelId="{7742AF92-B39F-4FF4-8A86-1890654061E7}">
      <dsp:nvSpPr>
        <dsp:cNvPr id="0" name=""/>
        <dsp:cNvSpPr/>
      </dsp:nvSpPr>
      <dsp:spPr>
        <a:xfrm>
          <a:off x="0" y="149067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-892954"/>
                <a:satOff val="5380"/>
                <a:lumOff val="431"/>
                <a:alphaOff val="0"/>
                <a:shade val="51000"/>
                <a:satMod val="130000"/>
              </a:schemeClr>
            </a:gs>
            <a:gs pos="80000">
              <a:schemeClr val="accent4">
                <a:hueOff val="-892954"/>
                <a:satOff val="5380"/>
                <a:lumOff val="431"/>
                <a:alphaOff val="0"/>
                <a:shade val="93000"/>
                <a:satMod val="130000"/>
              </a:schemeClr>
            </a:gs>
            <a:gs pos="100000">
              <a:schemeClr val="accent4">
                <a:hueOff val="-892954"/>
                <a:satOff val="5380"/>
                <a:lumOff val="43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Periodic Measurements</a:t>
          </a:r>
          <a:endParaRPr lang="en-US" sz="2800" b="0" kern="1200" noProof="0" dirty="0"/>
        </a:p>
      </dsp:txBody>
      <dsp:txXfrm>
        <a:off x="32784" y="1523460"/>
        <a:ext cx="15239432" cy="606012"/>
      </dsp:txXfrm>
    </dsp:sp>
    <dsp:sp modelId="{F9103DCF-BB2B-4C62-A4EC-A55C6C08A30D}">
      <dsp:nvSpPr>
        <dsp:cNvPr id="0" name=""/>
        <dsp:cNvSpPr/>
      </dsp:nvSpPr>
      <dsp:spPr>
        <a:xfrm>
          <a:off x="0" y="2162256"/>
          <a:ext cx="15305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u="none" strike="noStrike" kern="1200" noProof="0" dirty="0">
              <a:solidFill>
                <a:schemeClr val="tx1"/>
              </a:solidFill>
            </a:rPr>
            <a:t>The system periodically measures the temperature, the humidity, the weight and the UID read by the RFID</a:t>
          </a:r>
          <a:endParaRPr lang="en-US" sz="2200" b="1" kern="1200" noProof="0" dirty="0">
            <a:solidFill>
              <a:schemeClr val="tx1"/>
            </a:solidFill>
          </a:endParaRPr>
        </a:p>
      </dsp:txBody>
      <dsp:txXfrm>
        <a:off x="0" y="2162256"/>
        <a:ext cx="15305000" cy="463680"/>
      </dsp:txXfrm>
    </dsp:sp>
    <dsp:sp modelId="{4FF3DB07-0503-4B32-828E-2958EBBAFB65}">
      <dsp:nvSpPr>
        <dsp:cNvPr id="0" name=""/>
        <dsp:cNvSpPr/>
      </dsp:nvSpPr>
      <dsp:spPr>
        <a:xfrm>
          <a:off x="0" y="262593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-1785908"/>
                <a:satOff val="10760"/>
                <a:lumOff val="862"/>
                <a:alphaOff val="0"/>
                <a:shade val="51000"/>
                <a:satMod val="130000"/>
              </a:schemeClr>
            </a:gs>
            <a:gs pos="80000">
              <a:schemeClr val="accent4">
                <a:hueOff val="-1785908"/>
                <a:satOff val="10760"/>
                <a:lumOff val="862"/>
                <a:alphaOff val="0"/>
                <a:shade val="93000"/>
                <a:satMod val="130000"/>
              </a:schemeClr>
            </a:gs>
            <a:gs pos="100000">
              <a:schemeClr val="accent4">
                <a:hueOff val="-1785908"/>
                <a:satOff val="10760"/>
                <a:lumOff val="86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u="none" strike="noStrike" kern="1200" noProof="0" dirty="0"/>
            <a:t>Alarms (Periodic and non-perio</a:t>
          </a:r>
          <a:r>
            <a:rPr lang="en-GB" sz="2800" b="0" u="none" strike="noStrike" kern="1200" noProof="0" dirty="0">
              <a:solidFill>
                <a:schemeClr val="bg1"/>
              </a:solidFill>
            </a:rPr>
            <a:t>dic</a:t>
          </a:r>
          <a:r>
            <a:rPr lang="en-GB" sz="2800" b="0" i="0" u="none" strike="noStrike" kern="1200" noProof="0" dirty="0">
              <a:solidFill>
                <a:schemeClr val="bg1"/>
              </a:solidFill>
              <a:latin typeface="Calibri"/>
            </a:rPr>
            <a:t>)</a:t>
          </a:r>
          <a:endParaRPr lang="en-US" sz="2800" b="0" i="0" u="none" strike="noStrike" kern="1200" noProof="0" dirty="0">
            <a:solidFill>
              <a:schemeClr val="bg1"/>
            </a:solidFill>
            <a:latin typeface="Calibri"/>
          </a:endParaRPr>
        </a:p>
      </dsp:txBody>
      <dsp:txXfrm>
        <a:off x="32784" y="2658720"/>
        <a:ext cx="15239432" cy="606012"/>
      </dsp:txXfrm>
    </dsp:sp>
    <dsp:sp modelId="{2D401114-CB77-4A7E-9CBE-8ADAD79C5E1A}">
      <dsp:nvSpPr>
        <dsp:cNvPr id="0" name=""/>
        <dsp:cNvSpPr/>
      </dsp:nvSpPr>
      <dsp:spPr>
        <a:xfrm>
          <a:off x="0" y="3297516"/>
          <a:ext cx="15305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u="none" strike="noStrike" kern="1200" noProof="0" dirty="0">
              <a:solidFill>
                <a:schemeClr val="tx1"/>
              </a:solidFill>
              <a:latin typeface="Calibri"/>
            </a:rPr>
            <a:t>The</a:t>
          </a:r>
          <a:r>
            <a:rPr lang="en-US" sz="2200" b="0" i="0" u="none" strike="noStrike" kern="1200" noProof="0" dirty="0">
              <a:solidFill>
                <a:schemeClr val="tx1"/>
              </a:solidFill>
            </a:rPr>
            <a:t> system creates alerts when any of the telemetry is out of bounds and when there are eggs present in the nest</a:t>
          </a:r>
          <a:endParaRPr lang="en-US" sz="2200" kern="1200" dirty="0"/>
        </a:p>
      </dsp:txBody>
      <dsp:txXfrm>
        <a:off x="0" y="3297516"/>
        <a:ext cx="15305000" cy="463680"/>
      </dsp:txXfrm>
    </dsp:sp>
    <dsp:sp modelId="{BCB3DF5B-7B30-4D6C-AAD4-7972DAAAD864}">
      <dsp:nvSpPr>
        <dsp:cNvPr id="0" name=""/>
        <dsp:cNvSpPr/>
      </dsp:nvSpPr>
      <dsp:spPr>
        <a:xfrm>
          <a:off x="0" y="376119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-2678862"/>
                <a:satOff val="16139"/>
                <a:lumOff val="1294"/>
                <a:alphaOff val="0"/>
                <a:shade val="51000"/>
                <a:satMod val="130000"/>
              </a:schemeClr>
            </a:gs>
            <a:gs pos="80000">
              <a:schemeClr val="accent4">
                <a:hueOff val="-2678862"/>
                <a:satOff val="16139"/>
                <a:lumOff val="1294"/>
                <a:alphaOff val="0"/>
                <a:shade val="93000"/>
                <a:satMod val="130000"/>
              </a:schemeClr>
            </a:gs>
            <a:gs pos="100000">
              <a:schemeClr val="accent4">
                <a:hueOff val="-2678862"/>
                <a:satOff val="16139"/>
                <a:lumOff val="12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u="none" strike="noStrike" kern="1200" noProof="0"/>
            <a:t>Knowledge extraction form the IoT network</a:t>
          </a:r>
          <a:endParaRPr lang="en-US" sz="2800" b="0" i="0" u="none" strike="noStrike" kern="1200" noProof="0" dirty="0">
            <a:solidFill>
              <a:srgbClr val="000000"/>
            </a:solidFill>
            <a:latin typeface="Calibri"/>
            <a:ea typeface="Calibri"/>
            <a:cs typeface="Calibri"/>
          </a:endParaRPr>
        </a:p>
      </dsp:txBody>
      <dsp:txXfrm>
        <a:off x="32784" y="3793980"/>
        <a:ext cx="15239432" cy="606012"/>
      </dsp:txXfrm>
    </dsp:sp>
    <dsp:sp modelId="{3FFA649F-8561-49B5-AD63-FB88FB214C04}">
      <dsp:nvSpPr>
        <dsp:cNvPr id="0" name=""/>
        <dsp:cNvSpPr/>
      </dsp:nvSpPr>
      <dsp:spPr>
        <a:xfrm>
          <a:off x="0" y="4432776"/>
          <a:ext cx="15305000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u="none" strike="noStrike" kern="1200" noProof="0" dirty="0">
              <a:solidFill>
                <a:schemeClr val="tx1"/>
              </a:solidFill>
              <a:latin typeface="+mn-lt"/>
              <a:ea typeface="+mn-ea"/>
              <a:cs typeface="+mn-cs"/>
            </a:rPr>
            <a:t>The system extracts the state of the nest from the information gathered: If the nest is empty, If the hen is in the nest, If there are eggs in the nest and how many eggs are present.</a:t>
          </a:r>
          <a:endParaRPr lang="en-US" sz="2200" kern="1200" dirty="0"/>
        </a:p>
      </dsp:txBody>
      <dsp:txXfrm>
        <a:off x="0" y="4432776"/>
        <a:ext cx="15305000" cy="695520"/>
      </dsp:txXfrm>
    </dsp:sp>
    <dsp:sp modelId="{9FFCD1DE-5E4B-4793-A54D-6A3AD365F02B}">
      <dsp:nvSpPr>
        <dsp:cNvPr id="0" name=""/>
        <dsp:cNvSpPr/>
      </dsp:nvSpPr>
      <dsp:spPr>
        <a:xfrm>
          <a:off x="0" y="512829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-3571816"/>
                <a:satOff val="21519"/>
                <a:lumOff val="1725"/>
                <a:alphaOff val="0"/>
                <a:shade val="51000"/>
                <a:satMod val="130000"/>
              </a:schemeClr>
            </a:gs>
            <a:gs pos="80000">
              <a:schemeClr val="accent4">
                <a:hueOff val="-3571816"/>
                <a:satOff val="21519"/>
                <a:lumOff val="1725"/>
                <a:alphaOff val="0"/>
                <a:shade val="93000"/>
                <a:satMod val="130000"/>
              </a:schemeClr>
            </a:gs>
            <a:gs pos="100000">
              <a:schemeClr val="accent4">
                <a:hueOff val="-3571816"/>
                <a:satOff val="21519"/>
                <a:lumOff val="17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noProof="0" dirty="0"/>
            <a:t>Fusion of information</a:t>
          </a:r>
        </a:p>
      </dsp:txBody>
      <dsp:txXfrm>
        <a:off x="32784" y="5161080"/>
        <a:ext cx="15239432" cy="606012"/>
      </dsp:txXfrm>
    </dsp:sp>
    <dsp:sp modelId="{A0EF9681-77EC-461D-9A12-330E4E6E5103}">
      <dsp:nvSpPr>
        <dsp:cNvPr id="0" name=""/>
        <dsp:cNvSpPr/>
      </dsp:nvSpPr>
      <dsp:spPr>
        <a:xfrm>
          <a:off x="0" y="5799876"/>
          <a:ext cx="15305000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u="none" strike="noStrike" kern="1200" noProof="0" dirty="0">
              <a:solidFill>
                <a:schemeClr val="tx1"/>
              </a:solidFill>
              <a:latin typeface="+mn-lt"/>
              <a:ea typeface="+mn-ea"/>
              <a:cs typeface="+mn-cs"/>
            </a:rPr>
            <a:t>The system fuses data by gathering all the telemetry and encapsulating it into a structured JSON every period (10 seconds by default)</a:t>
          </a:r>
          <a:endParaRPr lang="en-US" sz="2200" kern="1200" noProof="0" dirty="0"/>
        </a:p>
      </dsp:txBody>
      <dsp:txXfrm>
        <a:off x="0" y="5799876"/>
        <a:ext cx="15305000" cy="695520"/>
      </dsp:txXfrm>
    </dsp:sp>
    <dsp:sp modelId="{9CB4F09B-9735-4ABD-84C4-E54187DD1ABA}">
      <dsp:nvSpPr>
        <dsp:cNvPr id="0" name=""/>
        <dsp:cNvSpPr/>
      </dsp:nvSpPr>
      <dsp:spPr>
        <a:xfrm>
          <a:off x="0" y="6495396"/>
          <a:ext cx="15305000" cy="67158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Commanding the IoT network (Server side) and Visualization</a:t>
          </a:r>
          <a:endParaRPr lang="en-US" sz="2800" kern="1200" noProof="0" dirty="0"/>
        </a:p>
      </dsp:txBody>
      <dsp:txXfrm>
        <a:off x="32784" y="6528180"/>
        <a:ext cx="15239432" cy="606012"/>
      </dsp:txXfrm>
    </dsp:sp>
    <dsp:sp modelId="{7E5D511F-9808-4C92-96B4-09A5EC3EC7E4}">
      <dsp:nvSpPr>
        <dsp:cNvPr id="0" name=""/>
        <dsp:cNvSpPr/>
      </dsp:nvSpPr>
      <dsp:spPr>
        <a:xfrm>
          <a:off x="0" y="7166976"/>
          <a:ext cx="15305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93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200" b="0" i="0" kern="1200" dirty="0" err="1">
              <a:solidFill>
                <a:schemeClr val="tx1"/>
              </a:solidFill>
            </a:rPr>
            <a:t>Through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the</a:t>
          </a:r>
          <a:r>
            <a:rPr lang="es-ES" sz="2200" b="0" i="0" kern="1200" dirty="0">
              <a:solidFill>
                <a:schemeClr val="tx1"/>
              </a:solidFill>
            </a:rPr>
            <a:t> use </a:t>
          </a:r>
          <a:r>
            <a:rPr lang="es-ES" sz="2200" b="0" i="0" kern="1200" dirty="0" err="1">
              <a:solidFill>
                <a:schemeClr val="tx1"/>
              </a:solidFill>
            </a:rPr>
            <a:t>of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the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ThingsBoard</a:t>
          </a:r>
          <a:r>
            <a:rPr lang="es-ES" sz="2200" b="0" i="0" kern="1200" dirty="0">
              <a:solidFill>
                <a:schemeClr val="tx1"/>
              </a:solidFill>
            </a:rPr>
            <a:t> interface and </a:t>
          </a:r>
          <a:r>
            <a:rPr lang="es-ES" sz="2200" b="0" i="0" kern="1200" dirty="0" err="1">
              <a:solidFill>
                <a:schemeClr val="tx1"/>
              </a:solidFill>
            </a:rPr>
            <a:t>the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Telegram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bot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developed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the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IoT</a:t>
          </a:r>
          <a:r>
            <a:rPr lang="es-ES" sz="2200" b="0" i="0" kern="1200" dirty="0">
              <a:solidFill>
                <a:schemeClr val="tx1"/>
              </a:solidFill>
            </a:rPr>
            <a:t> </a:t>
          </a:r>
          <a:r>
            <a:rPr lang="es-ES" sz="2200" b="0" i="0" kern="1200" dirty="0" err="1">
              <a:solidFill>
                <a:schemeClr val="tx1"/>
              </a:solidFill>
            </a:rPr>
            <a:t>network</a:t>
          </a:r>
          <a:r>
            <a:rPr lang="es-ES" sz="2200" b="0" i="0" kern="1200" dirty="0">
              <a:solidFill>
                <a:schemeClr val="tx1"/>
              </a:solidFill>
            </a:rPr>
            <a:t> can be </a:t>
          </a:r>
          <a:r>
            <a:rPr lang="es-ES" sz="2200" b="0" i="0" kern="1200" dirty="0" err="1">
              <a:solidFill>
                <a:schemeClr val="tx1"/>
              </a:solidFill>
            </a:rPr>
            <a:t>commanded</a:t>
          </a:r>
          <a:endParaRPr lang="en-US" sz="2200" kern="1200" noProof="0" dirty="0">
            <a:solidFill>
              <a:schemeClr val="tx1"/>
            </a:solidFill>
          </a:endParaRPr>
        </a:p>
      </dsp:txBody>
      <dsp:txXfrm>
        <a:off x="0" y="7166976"/>
        <a:ext cx="15305000" cy="463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63A3B-FDB5-4364-A9C1-017D1349E9ED}">
      <dsp:nvSpPr>
        <dsp:cNvPr id="0" name=""/>
        <dsp:cNvSpPr/>
      </dsp:nvSpPr>
      <dsp:spPr>
        <a:xfrm>
          <a:off x="0" y="499047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>
              <a:solidFill>
                <a:schemeClr val="bg1"/>
              </a:solidFill>
            </a:rPr>
            <a:t>Predictive </a:t>
          </a:r>
          <a:r>
            <a:rPr lang="es-ES" sz="3000" kern="1200" dirty="0" err="1">
              <a:solidFill>
                <a:schemeClr val="bg1"/>
              </a:solidFill>
              <a:latin typeface="Calibri"/>
            </a:rPr>
            <a:t>Analytics</a:t>
          </a:r>
          <a:endParaRPr lang="es-ES" sz="3000" kern="1200" dirty="0">
            <a:solidFill>
              <a:schemeClr val="bg1"/>
            </a:solidFill>
            <a:latin typeface="Calibri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1"/>
              </a:solidFill>
              <a:latin typeface="Calibri"/>
            </a:rPr>
            <a:t>Historical</a:t>
          </a:r>
          <a:r>
            <a:rPr lang="es-ES" sz="2300" kern="1200" dirty="0">
              <a:solidFill>
                <a:schemeClr val="bg1"/>
              </a:solidFill>
            </a:rPr>
            <a:t> data </a:t>
          </a:r>
          <a:r>
            <a:rPr lang="es-ES" sz="2300" kern="1200" dirty="0" err="1">
              <a:solidFill>
                <a:schemeClr val="bg1"/>
              </a:solidFill>
            </a:rPr>
            <a:t>stored</a:t>
          </a:r>
          <a:r>
            <a:rPr lang="es-ES" sz="2300" kern="1200" dirty="0">
              <a:solidFill>
                <a:schemeClr val="bg1"/>
              </a:solidFill>
            </a:rPr>
            <a:t> in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ThingsBoard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Telemetry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Database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to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implement</a:t>
          </a:r>
          <a:r>
            <a:rPr lang="es-ES" sz="2300" kern="1200" dirty="0">
              <a:solidFill>
                <a:schemeClr val="bg1"/>
              </a:solidFill>
            </a:rPr>
            <a:t> machine </a:t>
          </a:r>
          <a:r>
            <a:rPr lang="es-ES" sz="2300" kern="1200" dirty="0" err="1">
              <a:solidFill>
                <a:schemeClr val="bg1"/>
              </a:solidFill>
            </a:rPr>
            <a:t>learning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models</a:t>
          </a:r>
          <a:r>
            <a:rPr lang="es-ES" sz="2300" kern="1200" dirty="0">
              <a:solidFill>
                <a:schemeClr val="bg1"/>
              </a:solidFill>
            </a:rPr>
            <a:t> at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Edge </a:t>
          </a:r>
          <a:r>
            <a:rPr lang="es-ES" sz="2300" kern="1200" dirty="0" err="1">
              <a:solidFill>
                <a:schemeClr val="bg1"/>
              </a:solidFill>
            </a:rPr>
            <a:t>for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predicting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egg-laying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patterns</a:t>
          </a:r>
          <a:r>
            <a:rPr lang="es-ES" sz="2300" kern="1200" dirty="0">
              <a:solidFill>
                <a:schemeClr val="bg1"/>
              </a:solidFill>
            </a:rPr>
            <a:t> and </a:t>
          </a:r>
          <a:r>
            <a:rPr lang="es-ES" sz="2300" kern="1200" dirty="0" err="1">
              <a:solidFill>
                <a:schemeClr val="bg1"/>
              </a:solidFill>
            </a:rPr>
            <a:t>identifying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illness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based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environmental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anomalies</a:t>
          </a:r>
          <a:r>
            <a:rPr lang="es-ES" sz="2300" kern="1200" dirty="0">
              <a:solidFill>
                <a:schemeClr val="bg1"/>
              </a:solidFill>
            </a:rPr>
            <a:t>.</a:t>
          </a:r>
        </a:p>
      </dsp:txBody>
      <dsp:txXfrm>
        <a:off x="0" y="499047"/>
        <a:ext cx="5269617" cy="3161770"/>
      </dsp:txXfrm>
    </dsp:sp>
    <dsp:sp modelId="{E5558599-4846-4E4C-8B9C-776556FAA308}">
      <dsp:nvSpPr>
        <dsp:cNvPr id="0" name=""/>
        <dsp:cNvSpPr/>
      </dsp:nvSpPr>
      <dsp:spPr>
        <a:xfrm>
          <a:off x="5796579" y="499047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 err="1">
              <a:solidFill>
                <a:schemeClr val="bg1"/>
              </a:solidFill>
            </a:rPr>
            <a:t>Telegram</a:t>
          </a:r>
          <a:r>
            <a:rPr lang="es-ES" sz="3000" kern="1200" dirty="0">
              <a:solidFill>
                <a:schemeClr val="bg1"/>
              </a:solidFill>
            </a:rPr>
            <a:t> </a:t>
          </a:r>
          <a:r>
            <a:rPr lang="es-ES" sz="3000" kern="1200" dirty="0" err="1">
              <a:solidFill>
                <a:schemeClr val="bg1"/>
              </a:solidFill>
            </a:rPr>
            <a:t>Updates</a:t>
          </a:r>
          <a:endParaRPr lang="es-ES" sz="3000" kern="1200" dirty="0">
            <a:solidFill>
              <a:schemeClr val="bg1"/>
            </a:solidFill>
            <a:latin typeface="Calibri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1"/>
              </a:solidFill>
            </a:rPr>
            <a:t>Better</a:t>
          </a:r>
          <a:r>
            <a:rPr lang="es-ES" sz="2300" kern="1200" dirty="0">
              <a:solidFill>
                <a:schemeClr val="bg1"/>
              </a:solidFill>
            </a:rPr>
            <a:t> control </a:t>
          </a:r>
          <a:r>
            <a:rPr lang="es-ES" sz="2300" kern="1200" dirty="0" err="1">
              <a:solidFill>
                <a:schemeClr val="bg1"/>
              </a:solidFill>
            </a:rPr>
            <a:t>of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users</a:t>
          </a:r>
          <a:r>
            <a:rPr lang="es-ES" sz="2300" kern="1200" dirty="0">
              <a:solidFill>
                <a:schemeClr val="bg1"/>
              </a:solidFill>
            </a:rPr>
            <a:t> and </a:t>
          </a:r>
          <a:r>
            <a:rPr lang="es-ES" sz="2300" kern="1200" dirty="0" err="1">
              <a:solidFill>
                <a:schemeClr val="bg1"/>
              </a:solidFill>
            </a:rPr>
            <a:t>actions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that</a:t>
          </a:r>
          <a:r>
            <a:rPr lang="es-ES" sz="2300" kern="1200" dirty="0">
              <a:solidFill>
                <a:schemeClr val="bg1"/>
              </a:solidFill>
            </a:rPr>
            <a:t> are </a:t>
          </a:r>
          <a:r>
            <a:rPr lang="es-ES" sz="2300" kern="1200" dirty="0" err="1">
              <a:solidFill>
                <a:schemeClr val="bg1"/>
              </a:solidFill>
            </a:rPr>
            <a:t>able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to</a:t>
          </a:r>
          <a:r>
            <a:rPr lang="es-ES" sz="2300" kern="1200" dirty="0">
              <a:solidFill>
                <a:schemeClr val="bg1"/>
              </a:solidFill>
            </a:rPr>
            <a:t> be done </a:t>
          </a:r>
          <a:r>
            <a:rPr lang="es-ES" sz="2300" kern="1200" dirty="0" err="1">
              <a:solidFill>
                <a:schemeClr val="bg1"/>
              </a:solidFill>
            </a:rPr>
            <a:t>with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bot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such</a:t>
          </a:r>
          <a:r>
            <a:rPr lang="es-ES" sz="2300" kern="1200" dirty="0">
              <a:solidFill>
                <a:schemeClr val="bg1"/>
              </a:solidFill>
            </a:rPr>
            <a:t> as </a:t>
          </a:r>
          <a:r>
            <a:rPr lang="es-ES" sz="2300" kern="1200" dirty="0" err="1">
              <a:solidFill>
                <a:schemeClr val="bg1"/>
              </a:solidFill>
            </a:rPr>
            <a:t>creating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UIDs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for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animals</a:t>
          </a:r>
          <a:r>
            <a:rPr lang="es-ES" sz="2300" kern="1200" dirty="0">
              <a:solidFill>
                <a:schemeClr val="bg1"/>
              </a:solidFill>
            </a:rPr>
            <a:t> and </a:t>
          </a:r>
          <a:r>
            <a:rPr lang="es-ES" sz="2300" kern="1200" dirty="0" err="1">
              <a:solidFill>
                <a:schemeClr val="bg1"/>
              </a:solidFill>
            </a:rPr>
            <a:t>users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controlling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door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implementing</a:t>
          </a:r>
          <a:r>
            <a:rPr lang="es-ES" sz="2300" kern="1200" dirty="0">
              <a:solidFill>
                <a:schemeClr val="bg1"/>
              </a:solidFill>
            </a:rPr>
            <a:t> more </a:t>
          </a:r>
          <a:r>
            <a:rPr lang="es-ES" sz="2300" kern="1200" dirty="0" err="1">
              <a:solidFill>
                <a:schemeClr val="bg1"/>
              </a:solidFill>
            </a:rPr>
            <a:t>types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of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birds</a:t>
          </a:r>
          <a:r>
            <a:rPr lang="es-ES" sz="2300" kern="1200" dirty="0">
              <a:solidFill>
                <a:schemeClr val="bg1"/>
              </a:solidFill>
            </a:rPr>
            <a:t>.</a:t>
          </a:r>
        </a:p>
      </dsp:txBody>
      <dsp:txXfrm>
        <a:off x="5796579" y="499047"/>
        <a:ext cx="5269617" cy="3161770"/>
      </dsp:txXfrm>
    </dsp:sp>
    <dsp:sp modelId="{762ABA03-31D4-4E17-9E47-ADCF5F1ADFE4}">
      <dsp:nvSpPr>
        <dsp:cNvPr id="0" name=""/>
        <dsp:cNvSpPr/>
      </dsp:nvSpPr>
      <dsp:spPr>
        <a:xfrm>
          <a:off x="11593159" y="499047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 err="1">
              <a:solidFill>
                <a:schemeClr val="bg1"/>
              </a:solidFill>
            </a:rPr>
            <a:t>Enhanced</a:t>
          </a:r>
          <a:r>
            <a:rPr lang="es-ES" sz="3000" kern="1200" dirty="0">
              <a:solidFill>
                <a:schemeClr val="bg1"/>
              </a:solidFill>
            </a:rPr>
            <a:t> </a:t>
          </a:r>
          <a:r>
            <a:rPr lang="es-ES" sz="3000" kern="1200" dirty="0" err="1">
              <a:solidFill>
                <a:schemeClr val="bg1"/>
              </a:solidFill>
            </a:rPr>
            <a:t>Dashboard</a:t>
          </a:r>
          <a:endParaRPr lang="es-ES" sz="3000" kern="1200" dirty="0">
            <a:solidFill>
              <a:schemeClr val="bg1"/>
            </a:solidFill>
            <a:latin typeface="Calibri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1"/>
              </a:solidFill>
            </a:rPr>
            <a:t>Develop</a:t>
          </a:r>
          <a:r>
            <a:rPr lang="es-ES" sz="2300" kern="1200" dirty="0">
              <a:solidFill>
                <a:schemeClr val="bg1"/>
              </a:solidFill>
            </a:rPr>
            <a:t> more </a:t>
          </a:r>
          <a:r>
            <a:rPr lang="es-ES" sz="2300" kern="1200" dirty="0" err="1">
              <a:solidFill>
                <a:schemeClr val="bg1"/>
              </a:solidFill>
            </a:rPr>
            <a:t>visualizations</a:t>
          </a:r>
          <a:r>
            <a:rPr lang="es-ES" sz="2300" kern="1200" dirty="0">
              <a:solidFill>
                <a:schemeClr val="bg1"/>
              </a:solidFill>
            </a:rPr>
            <a:t> and </a:t>
          </a:r>
          <a:r>
            <a:rPr lang="es-ES" sz="2300" kern="1200" dirty="0" err="1">
              <a:solidFill>
                <a:schemeClr val="bg1"/>
              </a:solidFill>
            </a:rPr>
            <a:t>alerting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mechanisms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  <a:latin typeface="Calibri"/>
            </a:rPr>
            <a:t>the</a:t>
          </a:r>
          <a:r>
            <a:rPr lang="es-ES" sz="2300" kern="1200" dirty="0">
              <a:solidFill>
                <a:schemeClr val="bg1"/>
              </a:solidFill>
              <a:latin typeface="Calibri"/>
            </a:rPr>
            <a:t> </a:t>
          </a:r>
          <a:r>
            <a:rPr lang="es-ES" sz="2300" kern="1200" dirty="0" err="1">
              <a:solidFill>
                <a:schemeClr val="bg1"/>
              </a:solidFill>
              <a:latin typeface="Calibri"/>
            </a:rPr>
            <a:t>dashboard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including</a:t>
          </a:r>
          <a:r>
            <a:rPr lang="es-ES" sz="2300" kern="1200" dirty="0">
              <a:solidFill>
                <a:schemeClr val="bg1"/>
              </a:solidFill>
            </a:rPr>
            <a:t> real-time </a:t>
          </a:r>
          <a:r>
            <a:rPr lang="es-ES" sz="2300" kern="1200" dirty="0" err="1">
              <a:solidFill>
                <a:schemeClr val="bg1"/>
              </a:solidFill>
            </a:rPr>
            <a:t>heatmaps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of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environmental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conditions</a:t>
          </a:r>
          <a:r>
            <a:rPr lang="es-ES" sz="2300" kern="1200" dirty="0">
              <a:solidFill>
                <a:schemeClr val="bg1"/>
              </a:solidFill>
            </a:rPr>
            <a:t> and predictive </a:t>
          </a:r>
          <a:r>
            <a:rPr lang="es-ES" sz="2300" kern="1200" dirty="0" err="1">
              <a:solidFill>
                <a:schemeClr val="bg1"/>
              </a:solidFill>
            </a:rPr>
            <a:t>maintenance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alerts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based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on</a:t>
          </a:r>
          <a:r>
            <a:rPr lang="es-ES" sz="2300" kern="1200" dirty="0">
              <a:solidFill>
                <a:schemeClr val="bg1"/>
              </a:solidFill>
            </a:rPr>
            <a:t> sensor data </a:t>
          </a:r>
          <a:r>
            <a:rPr lang="es-ES" sz="2300" kern="1200" dirty="0" err="1">
              <a:solidFill>
                <a:schemeClr val="bg1"/>
              </a:solidFill>
            </a:rPr>
            <a:t>trends</a:t>
          </a:r>
          <a:r>
            <a:rPr lang="es-ES" sz="2300" kern="1200" dirty="0">
              <a:solidFill>
                <a:schemeClr val="bg1"/>
              </a:solidFill>
            </a:rPr>
            <a:t>.</a:t>
          </a:r>
        </a:p>
      </dsp:txBody>
      <dsp:txXfrm>
        <a:off x="11593159" y="499047"/>
        <a:ext cx="5269617" cy="3161770"/>
      </dsp:txXfrm>
    </dsp:sp>
    <dsp:sp modelId="{E7B9C771-1EFF-4D4B-A8A7-DE6BFF328AB2}">
      <dsp:nvSpPr>
        <dsp:cNvPr id="0" name=""/>
        <dsp:cNvSpPr/>
      </dsp:nvSpPr>
      <dsp:spPr>
        <a:xfrm>
          <a:off x="0" y="4187780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 err="1">
              <a:solidFill>
                <a:schemeClr val="bg1"/>
              </a:solidFill>
            </a:rPr>
            <a:t>Power</a:t>
          </a:r>
          <a:r>
            <a:rPr lang="es-ES" sz="3000" kern="1200" dirty="0">
              <a:solidFill>
                <a:schemeClr val="bg1"/>
              </a:solidFill>
            </a:rPr>
            <a:t> </a:t>
          </a:r>
          <a:r>
            <a:rPr lang="es-ES" sz="3000" kern="1200" dirty="0" err="1">
              <a:solidFill>
                <a:schemeClr val="bg1"/>
              </a:solidFill>
            </a:rPr>
            <a:t>Optimization</a:t>
          </a:r>
          <a:endParaRPr lang="es-ES" sz="3000" kern="1200" dirty="0">
            <a:solidFill>
              <a:schemeClr val="bg1"/>
            </a:solidFill>
            <a:latin typeface="Calibri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>
              <a:solidFill>
                <a:schemeClr val="bg1"/>
              </a:solidFill>
              <a:latin typeface="Calibri"/>
            </a:rPr>
            <a:t>Deep-</a:t>
          </a:r>
          <a:r>
            <a:rPr lang="es-ES" sz="2300" kern="1200" dirty="0" err="1">
              <a:solidFill>
                <a:schemeClr val="bg1"/>
              </a:solidFill>
              <a:latin typeface="Calibri"/>
            </a:rPr>
            <a:t>sleep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modes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for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ESP32 </a:t>
          </a:r>
          <a:r>
            <a:rPr lang="es-ES" sz="2300" kern="1200" dirty="0" err="1">
              <a:solidFill>
                <a:schemeClr val="bg1"/>
              </a:solidFill>
            </a:rPr>
            <a:t>to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enhance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energy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efficiency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for</a:t>
          </a:r>
          <a:r>
            <a:rPr lang="es-ES" sz="2300" kern="1200" dirty="0">
              <a:solidFill>
                <a:schemeClr val="bg1"/>
              </a:solidFill>
            </a:rPr>
            <a:t> future </a:t>
          </a:r>
          <a:r>
            <a:rPr lang="es-ES" sz="2300" kern="1200" dirty="0" err="1">
              <a:solidFill>
                <a:schemeClr val="bg1"/>
              </a:solidFill>
            </a:rPr>
            <a:t>deployments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using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  <a:latin typeface="Calibri"/>
            </a:rPr>
            <a:t>batteries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or</a:t>
          </a:r>
          <a:r>
            <a:rPr lang="es-ES" sz="2300" kern="1200" dirty="0">
              <a:solidFill>
                <a:schemeClr val="bg1"/>
              </a:solidFill>
            </a:rPr>
            <a:t> solar </a:t>
          </a:r>
          <a:r>
            <a:rPr lang="es-ES" sz="2300" kern="1200" dirty="0" err="1">
              <a:solidFill>
                <a:schemeClr val="bg1"/>
              </a:solidFill>
            </a:rPr>
            <a:t>power</a:t>
          </a:r>
          <a:r>
            <a:rPr lang="es-ES" sz="2300" kern="1200" dirty="0">
              <a:solidFill>
                <a:schemeClr val="bg1"/>
              </a:solidFill>
            </a:rPr>
            <a:t> in remote </a:t>
          </a:r>
          <a:r>
            <a:rPr lang="es-ES" sz="2300" kern="1200" dirty="0" err="1">
              <a:solidFill>
                <a:schemeClr val="bg1"/>
              </a:solidFill>
            </a:rPr>
            <a:t>farm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areas</a:t>
          </a:r>
          <a:r>
            <a:rPr lang="es-ES" sz="2300" kern="1200" dirty="0">
              <a:solidFill>
                <a:schemeClr val="bg1"/>
              </a:solidFill>
            </a:rPr>
            <a:t>.</a:t>
          </a:r>
        </a:p>
      </dsp:txBody>
      <dsp:txXfrm>
        <a:off x="0" y="4187780"/>
        <a:ext cx="5269617" cy="3161770"/>
      </dsp:txXfrm>
    </dsp:sp>
    <dsp:sp modelId="{A5891774-BC05-47DF-AA20-C312EE391342}">
      <dsp:nvSpPr>
        <dsp:cNvPr id="0" name=""/>
        <dsp:cNvSpPr/>
      </dsp:nvSpPr>
      <dsp:spPr>
        <a:xfrm>
          <a:off x="5796579" y="4187780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 err="1">
              <a:solidFill>
                <a:schemeClr val="bg1"/>
              </a:solidFill>
            </a:rPr>
            <a:t>Sustainability</a:t>
          </a:r>
          <a:r>
            <a:rPr lang="es-ES" sz="3000" kern="1200" dirty="0">
              <a:solidFill>
                <a:schemeClr val="bg1"/>
              </a:solidFill>
            </a:rPr>
            <a:t> and Energy </a:t>
          </a:r>
          <a:r>
            <a:rPr lang="es-ES" sz="3000" kern="1200" dirty="0" err="1">
              <a:solidFill>
                <a:schemeClr val="bg1"/>
              </a:solidFill>
            </a:rPr>
            <a:t>Harvesting</a:t>
          </a:r>
          <a:endParaRPr lang="es-ES" sz="3000" kern="1200" dirty="0">
            <a:solidFill>
              <a:schemeClr val="bg1"/>
            </a:solidFill>
            <a:latin typeface="Calibri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1"/>
              </a:solidFill>
            </a:rPr>
            <a:t>Research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integration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of</a:t>
          </a:r>
          <a:r>
            <a:rPr lang="es-ES" sz="2300" kern="1200" dirty="0">
              <a:solidFill>
                <a:schemeClr val="bg1"/>
              </a:solidFill>
            </a:rPr>
            <a:t> solar </a:t>
          </a:r>
          <a:r>
            <a:rPr lang="es-ES" sz="2300" kern="1200" dirty="0" err="1">
              <a:solidFill>
                <a:schemeClr val="bg1"/>
              </a:solidFill>
            </a:rPr>
            <a:t>photovoltaic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panels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to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create</a:t>
          </a:r>
          <a:r>
            <a:rPr lang="es-ES" sz="2300" kern="1200" dirty="0">
              <a:solidFill>
                <a:schemeClr val="bg1"/>
              </a:solidFill>
            </a:rPr>
            <a:t> a </a:t>
          </a:r>
          <a:r>
            <a:rPr lang="es-ES" sz="2300" kern="1200" dirty="0" err="1">
              <a:solidFill>
                <a:schemeClr val="bg1"/>
              </a:solidFill>
            </a:rPr>
            <a:t>maintenance</a:t>
          </a:r>
          <a:r>
            <a:rPr lang="es-ES" sz="2300" kern="1200" dirty="0">
              <a:solidFill>
                <a:schemeClr val="bg1"/>
              </a:solidFill>
            </a:rPr>
            <a:t>-free </a:t>
          </a:r>
          <a:r>
            <a:rPr lang="es-ES" sz="2300" kern="1200" dirty="0" err="1">
              <a:solidFill>
                <a:schemeClr val="bg1"/>
              </a:solidFill>
            </a:rPr>
            <a:t>energy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cycle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for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NEST </a:t>
          </a:r>
          <a:r>
            <a:rPr lang="es-ES" sz="2300" kern="1200" dirty="0" err="1">
              <a:solidFill>
                <a:schemeClr val="bg1"/>
              </a:solidFill>
            </a:rPr>
            <a:t>device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reducing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reliance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on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external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power</a:t>
          </a:r>
          <a:r>
            <a:rPr lang="es-ES" sz="2300" kern="1200" dirty="0">
              <a:solidFill>
                <a:schemeClr val="bg1"/>
              </a:solidFill>
            </a:rPr>
            <a:t> bridges.</a:t>
          </a:r>
        </a:p>
      </dsp:txBody>
      <dsp:txXfrm>
        <a:off x="5796579" y="4187780"/>
        <a:ext cx="5269617" cy="3161770"/>
      </dsp:txXfrm>
    </dsp:sp>
    <dsp:sp modelId="{8AB79902-A949-4469-AC69-34A9C621245E}">
      <dsp:nvSpPr>
        <dsp:cNvPr id="0" name=""/>
        <dsp:cNvSpPr/>
      </dsp:nvSpPr>
      <dsp:spPr>
        <a:xfrm>
          <a:off x="11593159" y="4187780"/>
          <a:ext cx="5269617" cy="31617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>
              <a:solidFill>
                <a:schemeClr val="bg1"/>
              </a:solidFill>
            </a:rPr>
            <a:t>Multi-</a:t>
          </a:r>
          <a:r>
            <a:rPr lang="es-ES" sz="3000" kern="1200" dirty="0" err="1">
              <a:solidFill>
                <a:schemeClr val="bg1"/>
              </a:solidFill>
            </a:rPr>
            <a:t>Protocol</a:t>
          </a:r>
          <a:r>
            <a:rPr lang="es-ES" sz="3000" kern="1200" dirty="0">
              <a:solidFill>
                <a:schemeClr val="bg1"/>
              </a:solidFill>
            </a:rPr>
            <a:t> </a:t>
          </a:r>
          <a:r>
            <a:rPr lang="es-ES" sz="3000" kern="1200" dirty="0" err="1">
              <a:solidFill>
                <a:schemeClr val="bg1"/>
              </a:solidFill>
            </a:rPr>
            <a:t>Redundancy</a:t>
          </a:r>
          <a:endParaRPr lang="es-ES" sz="3000" kern="1200" dirty="0" err="1">
            <a:solidFill>
              <a:schemeClr val="bg1"/>
            </a:solidFill>
            <a:latin typeface="Calibri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 err="1">
              <a:solidFill>
                <a:schemeClr val="bg1"/>
              </a:solidFill>
            </a:rPr>
            <a:t>Implement</a:t>
          </a:r>
          <a:r>
            <a:rPr lang="es-ES" sz="2300" kern="1200" dirty="0">
              <a:solidFill>
                <a:schemeClr val="bg1"/>
              </a:solidFill>
            </a:rPr>
            <a:t> a </a:t>
          </a:r>
          <a:r>
            <a:rPr lang="es-ES" sz="2300" kern="1200" dirty="0" err="1">
              <a:solidFill>
                <a:schemeClr val="bg1"/>
              </a:solidFill>
            </a:rPr>
            <a:t>fallback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communication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strategy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using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LoRaWAN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to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ensure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that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critical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alarms</a:t>
          </a:r>
          <a:r>
            <a:rPr lang="es-ES" sz="2300" kern="1200" dirty="0">
              <a:solidFill>
                <a:schemeClr val="bg1"/>
              </a:solidFill>
            </a:rPr>
            <a:t> and </a:t>
          </a:r>
          <a:r>
            <a:rPr lang="es-ES" sz="2300" kern="1200" dirty="0" err="1">
              <a:solidFill>
                <a:schemeClr val="bg1"/>
              </a:solidFill>
            </a:rPr>
            <a:t>autonomous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edge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decisions</a:t>
          </a:r>
          <a:r>
            <a:rPr lang="es-ES" sz="2300" kern="1200" dirty="0">
              <a:solidFill>
                <a:schemeClr val="bg1"/>
              </a:solidFill>
            </a:rPr>
            <a:t> are </a:t>
          </a:r>
          <a:r>
            <a:rPr lang="es-ES" sz="2300" kern="1200" dirty="0" err="1">
              <a:solidFill>
                <a:schemeClr val="bg1"/>
              </a:solidFill>
            </a:rPr>
            <a:t>transmitted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even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during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Wi</a:t>
          </a:r>
          <a:r>
            <a:rPr lang="es-ES" sz="2300" kern="1200" dirty="0">
              <a:solidFill>
                <a:schemeClr val="bg1"/>
              </a:solidFill>
            </a:rPr>
            <a:t>-Fi </a:t>
          </a:r>
          <a:r>
            <a:rPr lang="es-ES" sz="2300" kern="1200" dirty="0" err="1">
              <a:solidFill>
                <a:schemeClr val="bg1"/>
              </a:solidFill>
            </a:rPr>
            <a:t>outages</a:t>
          </a:r>
          <a:r>
            <a:rPr lang="es-ES" sz="2300" kern="1200" dirty="0">
              <a:solidFill>
                <a:schemeClr val="bg1"/>
              </a:solidFill>
            </a:rPr>
            <a:t>, </a:t>
          </a:r>
          <a:r>
            <a:rPr lang="es-ES" sz="2300" kern="1200" dirty="0" err="1">
              <a:solidFill>
                <a:schemeClr val="bg1"/>
              </a:solidFill>
            </a:rPr>
            <a:t>which</a:t>
          </a:r>
          <a:r>
            <a:rPr lang="es-ES" sz="2300" kern="1200" dirty="0">
              <a:solidFill>
                <a:schemeClr val="bg1"/>
              </a:solidFill>
            </a:rPr>
            <a:t> are </a:t>
          </a:r>
          <a:r>
            <a:rPr lang="es-ES" sz="2300" kern="1200" dirty="0" err="1">
              <a:solidFill>
                <a:schemeClr val="bg1"/>
              </a:solidFill>
            </a:rPr>
            <a:t>common</a:t>
          </a:r>
          <a:r>
            <a:rPr lang="es-ES" sz="2300" kern="1200" dirty="0">
              <a:solidFill>
                <a:schemeClr val="bg1"/>
              </a:solidFill>
            </a:rPr>
            <a:t> in rural </a:t>
          </a:r>
          <a:r>
            <a:rPr lang="es-ES" sz="2300" kern="1200" dirty="0" err="1">
              <a:solidFill>
                <a:schemeClr val="bg1"/>
              </a:solidFill>
            </a:rPr>
            <a:t>farming</a:t>
          </a:r>
          <a:r>
            <a:rPr lang="es-ES" sz="2300" kern="1200" dirty="0">
              <a:solidFill>
                <a:schemeClr val="bg1"/>
              </a:solidFill>
            </a:rPr>
            <a:t> </a:t>
          </a:r>
          <a:r>
            <a:rPr lang="es-ES" sz="2300" kern="1200" dirty="0" err="1">
              <a:solidFill>
                <a:schemeClr val="bg1"/>
              </a:solidFill>
            </a:rPr>
            <a:t>environments</a:t>
          </a:r>
          <a:r>
            <a:rPr lang="es-ES" sz="2300" kern="1200" dirty="0">
              <a:solidFill>
                <a:schemeClr val="bg1"/>
              </a:solidFill>
            </a:rPr>
            <a:t>.</a:t>
          </a:r>
        </a:p>
      </dsp:txBody>
      <dsp:txXfrm>
        <a:off x="11593159" y="4187780"/>
        <a:ext cx="5269617" cy="3161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0DCD-3A5D-4E33-8D41-19BE56969BBF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4C6E-2157-475B-B3EE-FF11277639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8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696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8818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DE84-FB84-5C0E-F8AD-5D8724D3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EA698-CF27-63B6-E0FB-B618E8262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161F1C-BF52-4F75-C9A7-9A0FBBCA8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CE9E18-3F28-FE05-114E-B19B82787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275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5640-C325-EFAB-4512-20E46EFF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60A566-1A36-A4B5-B362-222BB0561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897431-FEFB-3E40-F171-5023E361B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6E2C45-8FDA-526C-71A4-25B3C89F1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286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E5CA-F263-2B35-7740-0FEF09E6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B7A29B-5B5E-F3B0-8A65-47420D380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D0BAE1-1D3F-BD1A-58BE-9FFFD8054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3EA2C3-5F5D-44BC-2C23-6CCAE3E42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676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29CF-4774-AC17-441C-A1141A23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8DDA6D-57B3-9253-A8D0-B01972949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073D2F-E0E9-56C3-CF2B-ABC177C73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69DCA1-6028-C5F5-3B0A-F21A702C3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3307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13F3-0C6A-B244-BD3D-F2F9DD1D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98DE9C-55D3-F71C-7929-C84818070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6D8BC7-32E9-D795-B143-B8D5DA621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AD69A0-5EEE-4A12-DE53-6C579422A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9691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4F89-5707-3E6E-B1A4-84E88099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5CADA5-918C-F404-A447-960E9CD07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C4ABD7-C6C1-8C67-793F-9599D8C21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71C2C-5149-5A3A-EAB5-8B0B85208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8035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FADB-D47E-EF41-A38F-3929E951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3E2DDA-B661-54E0-20B9-DC4F90637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664C40-56EE-9D15-1E6D-5DD3E28A6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7D10EB-D492-D276-247B-C9D2DFC4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089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FADB-D47E-EF41-A38F-3929E951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3E2DDA-B661-54E0-20B9-DC4F90637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664C40-56EE-9D15-1E6D-5DD3E28A6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7D10EB-D492-D276-247B-C9D2DFC4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534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C09C-B784-DBD6-D875-7EDA57B3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6A7427-EC15-3231-D6BC-89AE5A531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683EE0-0F8C-F551-FA1F-F5EC3660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5DCF2-1BCD-A8FD-A131-4703400C3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9611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C09C-B784-DBD6-D875-7EDA57B3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6A7427-EC15-3231-D6BC-89AE5A531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683EE0-0F8C-F551-FA1F-F5EC3660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5DCF2-1BCD-A8FD-A131-4703400C3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703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C09C-B784-DBD6-D875-7EDA57B3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6A7427-EC15-3231-D6BC-89AE5A531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683EE0-0F8C-F551-FA1F-F5EC3660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5DCF2-1BCD-A8FD-A131-4703400C3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941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C09C-B784-DBD6-D875-7EDA57B3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6A7427-EC15-3231-D6BC-89AE5A531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683EE0-0F8C-F551-FA1F-F5EC36601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85DCF2-1BCD-A8FD-A131-4703400C3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008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ED63-4098-96E8-AFFD-3D007479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D26315-E875-4C4C-5C90-F470F5CC3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A69160-F01B-9820-5999-A2BE3649C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FF258B-5454-6119-74C4-2B8A95ECD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690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7161-19A7-CB96-00FB-1968D824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0C83C4C-8DAC-8722-C4E1-8BC1BB2AE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8E64E3-180F-F9AA-BB74-7020799B2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CE20CF-1506-62FF-26C0-23E3E0F47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965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83D0-3C82-81D2-6C21-69207498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AA4DB5-4F67-5850-70BF-2D67180F0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430FC6-54DF-F6CF-32FF-2DB1B0EAE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1C4F82-B6A5-A0E6-08E0-2DD760F2F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6439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50A1-F965-3AA9-33DC-7B959400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21D594-504D-4304-6D98-6C050B75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AE5602-5F58-1ED1-1ED5-D43830EF0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7CBF15-35A5-12FB-D3BC-A6364AC94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224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F692-2718-50BA-A450-408248BB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3AFC2E-5F6E-85DB-D148-EC6020915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73034F-BB61-2A67-CABD-A6639A35A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F7BA1F-4B19-E31D-1AB7-35EC85EFC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467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11" Type="http://schemas.openxmlformats.org/officeDocument/2006/relationships/image" Target="../media/image31.jpeg"/><Relationship Id="rId5" Type="http://schemas.openxmlformats.org/officeDocument/2006/relationships/image" Target="../media/image25.png"/><Relationship Id="rId10" Type="http://schemas.openxmlformats.org/officeDocument/2006/relationships/image" Target="../media/image30.jpe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n Sitting on Nest with Two Eggs in a Rustic Setting | Premium AI ...">
            <a:extLst>
              <a:ext uri="{FF2B5EF4-FFF2-40B4-BE49-F238E27FC236}">
                <a16:creationId xmlns:a16="http://schemas.microsoft.com/office/drawing/2014/main" id="{BF66066E-DDDC-9731-C5C3-40F8DC29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84" y="1743846"/>
            <a:ext cx="11558016" cy="77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F37AC3A-C08C-4B7E-00AA-2250ECD98AC9}"/>
              </a:ext>
            </a:extLst>
          </p:cNvPr>
          <p:cNvSpPr/>
          <p:nvPr/>
        </p:nvSpPr>
        <p:spPr>
          <a:xfrm>
            <a:off x="1447800" y="2314328"/>
            <a:ext cx="8382000" cy="5953372"/>
          </a:xfrm>
          <a:prstGeom prst="rect">
            <a:avLst/>
          </a:prstGeom>
          <a:solidFill>
            <a:srgbClr val="1867B7">
              <a:alpha val="74000"/>
            </a:srgbClr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n-US" sz="12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37413" y="2580528"/>
            <a:ext cx="7402773" cy="217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6600" b="1" spc="-194" noProof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NEST</a:t>
            </a:r>
            <a:endParaRPr lang="en-US" sz="7200" b="1" spc="-194" noProof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50000"/>
              </a:lnSpc>
            </a:pPr>
            <a:r>
              <a:rPr lang="en-US" sz="3200" b="1" spc="-194" noProof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Next-generation Edge System for Tracking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C7FC323A-E9C5-DC4F-6BC5-5C9CF36B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746278"/>
              </p:ext>
            </p:extLst>
          </p:nvPr>
        </p:nvGraphicFramePr>
        <p:xfrm>
          <a:off x="1937413" y="5620632"/>
          <a:ext cx="6031173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989">
                  <a:extLst>
                    <a:ext uri="{9D8B030D-6E8A-4147-A177-3AD203B41FA5}">
                      <a16:colId xmlns:a16="http://schemas.microsoft.com/office/drawing/2014/main" val="2196420250"/>
                    </a:ext>
                  </a:extLst>
                </a:gridCol>
                <a:gridCol w="3738184">
                  <a:extLst>
                    <a:ext uri="{9D8B030D-6E8A-4147-A177-3AD203B41FA5}">
                      <a16:colId xmlns:a16="http://schemas.microsoft.com/office/drawing/2014/main" val="3855481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Group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Alejandro Botas Bárcena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3219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endParaRPr lang="en-US" sz="2400" b="1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Javier </a:t>
                      </a:r>
                      <a:r>
                        <a:rPr lang="en-US" sz="2400" b="1" noProof="0" err="1">
                          <a:solidFill>
                            <a:schemeClr val="bg1"/>
                          </a:solidFill>
                        </a:rPr>
                        <a:t>Grimaldos</a:t>
                      </a:r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 Chavarría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4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Estela Mora Barba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0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noProof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48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noProof="0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13 February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55993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C84D7EE-4D23-745E-3FE0-8E6BC6422D8B}"/>
              </a:ext>
            </a:extLst>
          </p:cNvPr>
          <p:cNvSpPr txBox="1"/>
          <p:nvPr/>
        </p:nvSpPr>
        <p:spPr>
          <a:xfrm>
            <a:off x="2362200" y="726715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BA9BBBE-42DD-78B6-65E2-8B8928FA7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FA1E2EE-1292-E7EC-9739-B9A4EDF4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258D-EEAD-22F9-D46B-4644DC08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1">
            <a:extLst>
              <a:ext uri="{FF2B5EF4-FFF2-40B4-BE49-F238E27FC236}">
                <a16:creationId xmlns:a16="http://schemas.microsoft.com/office/drawing/2014/main" id="{60A292C1-5F1C-C227-D46A-7E364AB31F91}"/>
              </a:ext>
            </a:extLst>
          </p:cNvPr>
          <p:cNvSpPr txBox="1"/>
          <p:nvPr/>
        </p:nvSpPr>
        <p:spPr>
          <a:xfrm>
            <a:off x="8352738" y="1955046"/>
            <a:ext cx="7763539" cy="871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6"/>
              </a:lnSpc>
            </a:pPr>
            <a:r>
              <a:rPr lang="en-US" sz="7280" b="1" spc="-116" noProof="0">
                <a:latin typeface="Arial Bold"/>
                <a:ea typeface="Arial Bold"/>
                <a:cs typeface="Arial Bold"/>
                <a:sym typeface="Arial Bold"/>
              </a:rPr>
              <a:t>Summary</a:t>
            </a:r>
          </a:p>
        </p:txBody>
      </p:sp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17960446-07A2-0F6C-AAF7-D89B05D93733}"/>
              </a:ext>
            </a:extLst>
          </p:cNvPr>
          <p:cNvSpPr/>
          <p:nvPr/>
        </p:nvSpPr>
        <p:spPr>
          <a:xfrm flipH="1">
            <a:off x="17474052" y="95245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141519"/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5651595D-5823-5FDC-88CA-9F3AD4898BF7}"/>
              </a:ext>
            </a:extLst>
          </p:cNvPr>
          <p:cNvSpPr txBox="1"/>
          <p:nvPr/>
        </p:nvSpPr>
        <p:spPr>
          <a:xfrm>
            <a:off x="2362200" y="726715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576" b="1" spc="-41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7C75C0-6886-3581-D584-5FC62366A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1F3076A-B3DB-CF51-5533-1ACD2F58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9" name="CH01">
            <a:extLst>
              <a:ext uri="{FF2B5EF4-FFF2-40B4-BE49-F238E27FC236}">
                <a16:creationId xmlns:a16="http://schemas.microsoft.com/office/drawing/2014/main" id="{15EB1C32-B645-3266-3CF5-2C5D7C692FA6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3280746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 noProof="0"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11" name="CH01Title">
            <a:extLst>
              <a:ext uri="{FF2B5EF4-FFF2-40B4-BE49-F238E27FC236}">
                <a16:creationId xmlns:a16="http://schemas.microsoft.com/office/drawing/2014/main" id="{32D45465-54D7-15C4-E2B3-DA3AC8FC3CCB}"/>
              </a:ext>
            </a:extLst>
          </p:cNvPr>
          <p:cNvSpPr>
            <a:spLocks/>
          </p:cNvSpPr>
          <p:nvPr/>
        </p:nvSpPr>
        <p:spPr>
          <a:xfrm flipH="1">
            <a:off x="9837788" y="3280746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latin typeface="ubuntu" panose="020B0504030602030204" pitchFamily="34" charset="0"/>
                <a:cs typeface="Arial" panose="020B0604020202020204" pitchFamily="34" charset="0"/>
              </a:rPr>
              <a:t>General Overview</a:t>
            </a:r>
          </a:p>
        </p:txBody>
      </p:sp>
      <p:sp>
        <p:nvSpPr>
          <p:cNvPr id="12" name="CH01">
            <a:extLst>
              <a:ext uri="{FF2B5EF4-FFF2-40B4-BE49-F238E27FC236}">
                <a16:creationId xmlns:a16="http://schemas.microsoft.com/office/drawing/2014/main" id="{190021D4-F4B6-0767-3A3B-377CAD6A23A7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4277628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>
                <a:latin typeface="Ubuntu" panose="020B0504030602030204" pitchFamily="34" charset="0"/>
              </a:rPr>
              <a:t>2</a:t>
            </a:r>
            <a:endParaRPr lang="en-US" sz="3200" b="1" noProof="0">
              <a:latin typeface="Ubuntu" panose="020B0504030602030204" pitchFamily="34" charset="0"/>
            </a:endParaRPr>
          </a:p>
        </p:txBody>
      </p:sp>
      <p:sp>
        <p:nvSpPr>
          <p:cNvPr id="13" name="CH01Title">
            <a:extLst>
              <a:ext uri="{FF2B5EF4-FFF2-40B4-BE49-F238E27FC236}">
                <a16:creationId xmlns:a16="http://schemas.microsoft.com/office/drawing/2014/main" id="{74FB0043-4E45-20D4-4C87-C0502112B33A}"/>
              </a:ext>
            </a:extLst>
          </p:cNvPr>
          <p:cNvSpPr>
            <a:spLocks/>
          </p:cNvSpPr>
          <p:nvPr/>
        </p:nvSpPr>
        <p:spPr>
          <a:xfrm flipH="1">
            <a:off x="9837788" y="4277628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latin typeface="ubuntu" panose="020B0504030602030204" pitchFamily="34" charset="0"/>
                <a:cs typeface="Arial" panose="020B0604020202020204" pitchFamily="34" charset="0"/>
              </a:rPr>
              <a:t>Requirements</a:t>
            </a:r>
          </a:p>
        </p:txBody>
      </p:sp>
      <p:sp>
        <p:nvSpPr>
          <p:cNvPr id="15" name="CH01">
            <a:extLst>
              <a:ext uri="{FF2B5EF4-FFF2-40B4-BE49-F238E27FC236}">
                <a16:creationId xmlns:a16="http://schemas.microsoft.com/office/drawing/2014/main" id="{8D7309C9-5E25-484B-C398-10B1E52B10E1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5274510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 noProof="0"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6" name="CH01Title">
            <a:extLst>
              <a:ext uri="{FF2B5EF4-FFF2-40B4-BE49-F238E27FC236}">
                <a16:creationId xmlns:a16="http://schemas.microsoft.com/office/drawing/2014/main" id="{A7EA187B-8A11-2232-9276-8A48F061E8D7}"/>
              </a:ext>
            </a:extLst>
          </p:cNvPr>
          <p:cNvSpPr>
            <a:spLocks/>
          </p:cNvSpPr>
          <p:nvPr/>
        </p:nvSpPr>
        <p:spPr>
          <a:xfrm flipH="1">
            <a:off x="9837788" y="5274510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7" name="CH01">
            <a:extLst>
              <a:ext uri="{FF2B5EF4-FFF2-40B4-BE49-F238E27FC236}">
                <a16:creationId xmlns:a16="http://schemas.microsoft.com/office/drawing/2014/main" id="{2BE0021C-A2F0-FD00-07BF-987726729C8C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6273206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 noProof="0"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CH01Title">
            <a:extLst>
              <a:ext uri="{FF2B5EF4-FFF2-40B4-BE49-F238E27FC236}">
                <a16:creationId xmlns:a16="http://schemas.microsoft.com/office/drawing/2014/main" id="{BB5EC3E2-A0F6-E17E-C3CE-BB43F580601C}"/>
              </a:ext>
            </a:extLst>
          </p:cNvPr>
          <p:cNvSpPr>
            <a:spLocks/>
          </p:cNvSpPr>
          <p:nvPr/>
        </p:nvSpPr>
        <p:spPr>
          <a:xfrm flipH="1">
            <a:off x="9837788" y="6273206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latin typeface="ubuntu" panose="020B050403060203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21" name="CH01">
            <a:extLst>
              <a:ext uri="{FF2B5EF4-FFF2-40B4-BE49-F238E27FC236}">
                <a16:creationId xmlns:a16="http://schemas.microsoft.com/office/drawing/2014/main" id="{C4041EEA-F9D0-1F61-BD0F-A81619009592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7299072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>
                <a:latin typeface="Ubuntu" panose="020B0504030602030204" pitchFamily="34" charset="0"/>
              </a:rPr>
              <a:t>5</a:t>
            </a:r>
            <a:endParaRPr lang="en-US" sz="3200" b="1" noProof="0">
              <a:latin typeface="Ubuntu" panose="020B0504030602030204" pitchFamily="34" charset="0"/>
            </a:endParaRPr>
          </a:p>
        </p:txBody>
      </p:sp>
      <p:sp>
        <p:nvSpPr>
          <p:cNvPr id="22" name="CH01Title">
            <a:extLst>
              <a:ext uri="{FF2B5EF4-FFF2-40B4-BE49-F238E27FC236}">
                <a16:creationId xmlns:a16="http://schemas.microsoft.com/office/drawing/2014/main" id="{C2C957DE-80B3-CBD9-A744-EC7AA5941497}"/>
              </a:ext>
            </a:extLst>
          </p:cNvPr>
          <p:cNvSpPr>
            <a:spLocks/>
          </p:cNvSpPr>
          <p:nvPr/>
        </p:nvSpPr>
        <p:spPr>
          <a:xfrm flipH="1">
            <a:off x="9837788" y="7299072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latin typeface="ubuntu" panose="020B050403060203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CH01">
            <a:extLst>
              <a:ext uri="{FF2B5EF4-FFF2-40B4-BE49-F238E27FC236}">
                <a16:creationId xmlns:a16="http://schemas.microsoft.com/office/drawing/2014/main" id="{04E4910E-5037-1216-476E-F89A4B869CDD}"/>
              </a:ext>
            </a:extLst>
          </p:cNvPr>
          <p:cNvSpPr>
            <a:spLocks noChangeAspect="1"/>
          </p:cNvSpPr>
          <p:nvPr/>
        </p:nvSpPr>
        <p:spPr>
          <a:xfrm flipH="1">
            <a:off x="8750753" y="8331954"/>
            <a:ext cx="706034" cy="722801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3200" b="1" noProof="0">
                <a:latin typeface="Ubuntu" panose="020B0504030602030204" pitchFamily="34" charset="0"/>
              </a:rPr>
              <a:t>6</a:t>
            </a:r>
          </a:p>
        </p:txBody>
      </p:sp>
      <p:sp>
        <p:nvSpPr>
          <p:cNvPr id="3" name="CH01Title">
            <a:extLst>
              <a:ext uri="{FF2B5EF4-FFF2-40B4-BE49-F238E27FC236}">
                <a16:creationId xmlns:a16="http://schemas.microsoft.com/office/drawing/2014/main" id="{3BA98E11-C380-41AF-12C6-49837EB2DF3C}"/>
              </a:ext>
            </a:extLst>
          </p:cNvPr>
          <p:cNvSpPr>
            <a:spLocks/>
          </p:cNvSpPr>
          <p:nvPr/>
        </p:nvSpPr>
        <p:spPr>
          <a:xfrm flipH="1">
            <a:off x="9837788" y="8331954"/>
            <a:ext cx="5410200" cy="719360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latin typeface="ubuntu" panose="020B0504030602030204" pitchFamily="34" charset="0"/>
                <a:cs typeface="Arial" panose="020B0604020202020204" pitchFamily="34" charset="0"/>
              </a:rPr>
              <a:t>Conclusions and Future Works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88FDCBE-9793-E2DB-1F2F-680931041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19" y="2988002"/>
            <a:ext cx="6011735" cy="601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1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D480-5EC2-D69B-AFE3-32C33702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01Title">
            <a:extLst>
              <a:ext uri="{FF2B5EF4-FFF2-40B4-BE49-F238E27FC236}">
                <a16:creationId xmlns:a16="http://schemas.microsoft.com/office/drawing/2014/main" id="{706F6B51-F3F1-C856-9AEF-4AD444498F13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General Overview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7ECC22B1-D3FD-F5AD-B6CB-F90785729048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Motivation</a:t>
            </a:r>
            <a:endParaRPr lang="en-US" sz="5400" b="1" spc="-116" noProof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781D8EF-2A59-38C2-56C1-680B460667C3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F34D4D-B891-C513-4F35-3A5D0A11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157993-A3EC-CE20-C3AB-417ED7544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3" name="CH01">
            <a:extLst>
              <a:ext uri="{FF2B5EF4-FFF2-40B4-BE49-F238E27FC236}">
                <a16:creationId xmlns:a16="http://schemas.microsoft.com/office/drawing/2014/main" id="{B0031A5B-15F4-F94B-E1B7-59AD8CB8782F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4" name="Google Shape;142;p26">
            <a:extLst>
              <a:ext uri="{FF2B5EF4-FFF2-40B4-BE49-F238E27FC236}">
                <a16:creationId xmlns:a16="http://schemas.microsoft.com/office/drawing/2014/main" id="{A4671327-6E7D-480A-D64A-B693A62D24D4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20E2A661-1EFE-79BE-DA48-D9442A1F6664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B6C871B3-DCD4-A7A9-19E3-0F38207DFC1B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59C80504-F723-01B3-04DE-B482C94D3E70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17689605-3A3B-BE07-7A5A-551B86512726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20" name="Google Shape;142;p26">
            <a:extLst>
              <a:ext uri="{FF2B5EF4-FFF2-40B4-BE49-F238E27FC236}">
                <a16:creationId xmlns:a16="http://schemas.microsoft.com/office/drawing/2014/main" id="{0CF178B2-3886-987F-BF30-BA39F1F58184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3074" name="Picture 2" descr="Another Broken Egg - Owensboro Living">
            <a:extLst>
              <a:ext uri="{FF2B5EF4-FFF2-40B4-BE49-F238E27FC236}">
                <a16:creationId xmlns:a16="http://schemas.microsoft.com/office/drawing/2014/main" id="{B931D415-A924-0C70-8F5F-F4DD6F1DD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220" y="1750422"/>
            <a:ext cx="9696319" cy="643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56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6C76-794D-9804-BED3-0F93055F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FE41FE85-3E4A-640A-F8D4-6694876F1281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Project Idea</a:t>
            </a:r>
            <a:endParaRPr lang="en-US" sz="5400" b="1" spc="-116" noProof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B1EE91E-BC05-E3B3-1B03-7B126011E664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3E66D82-0764-EE5A-0DF4-DC60FFA4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DA62334-20B7-BF8C-C3CB-FF341F043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3" name="CH01">
            <a:extLst>
              <a:ext uri="{FF2B5EF4-FFF2-40B4-BE49-F238E27FC236}">
                <a16:creationId xmlns:a16="http://schemas.microsoft.com/office/drawing/2014/main" id="{3350C7DD-E75D-C6B0-CA94-9A486642A13B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4" name="Google Shape;142;p26">
            <a:extLst>
              <a:ext uri="{FF2B5EF4-FFF2-40B4-BE49-F238E27FC236}">
                <a16:creationId xmlns:a16="http://schemas.microsoft.com/office/drawing/2014/main" id="{0DF5FA40-760E-FE6E-05B6-143567EA881F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C8328840-E988-8848-0433-3C07603D63CD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7" name="CH01Title">
            <a:extLst>
              <a:ext uri="{FF2B5EF4-FFF2-40B4-BE49-F238E27FC236}">
                <a16:creationId xmlns:a16="http://schemas.microsoft.com/office/drawing/2014/main" id="{E6F54A24-DEA4-2747-3094-60167F6A65FC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General Overview</a:t>
            </a:r>
          </a:p>
        </p:txBody>
      </p:sp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689774A0-8499-12D4-5222-717733A26424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8E65B601-7090-BA76-24F2-2CE22F62F7E9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74E67F1F-A90D-F25A-CA8C-4462A4B79B55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20" name="Google Shape;142;p26">
            <a:extLst>
              <a:ext uri="{FF2B5EF4-FFF2-40B4-BE49-F238E27FC236}">
                <a16:creationId xmlns:a16="http://schemas.microsoft.com/office/drawing/2014/main" id="{4DECF2D2-FA59-B071-37F7-D3716B1C9ECB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17" name="Imagen 16" descr="Pantalla de video juego&#10;&#10;El contenido generado por IA puede ser incorrecto.">
            <a:extLst>
              <a:ext uri="{FF2B5EF4-FFF2-40B4-BE49-F238E27FC236}">
                <a16:creationId xmlns:a16="http://schemas.microsoft.com/office/drawing/2014/main" id="{2F30B4FF-7E8F-1BC6-358D-2A780796E4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37"/>
          <a:stretch>
            <a:fillRect/>
          </a:stretch>
        </p:blipFill>
        <p:spPr>
          <a:xfrm>
            <a:off x="2726407" y="5768699"/>
            <a:ext cx="12704547" cy="3331337"/>
          </a:xfrm>
          <a:prstGeom prst="rect">
            <a:avLst/>
          </a:prstGeom>
        </p:spPr>
      </p:pic>
      <p:pic>
        <p:nvPicPr>
          <p:cNvPr id="21" name="Imagen 20" descr="Imagen que contiene foto, diferente, artículos, tabla&#10;&#10;El contenido generado por IA puede ser incorrecto.">
            <a:extLst>
              <a:ext uri="{FF2B5EF4-FFF2-40B4-BE49-F238E27FC236}">
                <a16:creationId xmlns:a16="http://schemas.microsoft.com/office/drawing/2014/main" id="{8F32F527-33DA-E5F6-0A99-140C222DEA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938"/>
          <a:stretch>
            <a:fillRect/>
          </a:stretch>
        </p:blipFill>
        <p:spPr>
          <a:xfrm>
            <a:off x="2726407" y="2056502"/>
            <a:ext cx="12704547" cy="350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4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606C-9586-5B43-EFE6-764B39AE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BA792A1F-A31D-AA6E-02D8-FAD4ED2F58A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Requirements and Functionalities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91F927F-46C5-A314-1A78-8ED353B320A1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E6F545-7060-D6E1-B96C-2B01F7A63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B4BEF2A-BADE-CC8C-A44D-FE882AC83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4" name="Google Shape;142;p26">
            <a:extLst>
              <a:ext uri="{FF2B5EF4-FFF2-40B4-BE49-F238E27FC236}">
                <a16:creationId xmlns:a16="http://schemas.microsoft.com/office/drawing/2014/main" id="{8D6D8717-C99C-7685-9FFC-9162F2FE455A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6" name="Google Shape;142;p26">
            <a:extLst>
              <a:ext uri="{FF2B5EF4-FFF2-40B4-BE49-F238E27FC236}">
                <a16:creationId xmlns:a16="http://schemas.microsoft.com/office/drawing/2014/main" id="{3ABB35A2-3319-C1A7-49BE-BB6A5C8209E4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5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7" name="CH01Title">
            <a:extLst>
              <a:ext uri="{FF2B5EF4-FFF2-40B4-BE49-F238E27FC236}">
                <a16:creationId xmlns:a16="http://schemas.microsoft.com/office/drawing/2014/main" id="{037BDD20-0255-4158-5196-99069BB0AE6C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Requirements</a:t>
            </a:r>
          </a:p>
        </p:txBody>
      </p:sp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FA64502B-303D-988D-E5E4-140AE133730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9" name="Google Shape;142;p26">
            <a:extLst>
              <a:ext uri="{FF2B5EF4-FFF2-40B4-BE49-F238E27FC236}">
                <a16:creationId xmlns:a16="http://schemas.microsoft.com/office/drawing/2014/main" id="{5D0A39E8-41BC-1FF9-EDA1-F4D3118F405C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1" name="Google Shape;142;p26">
            <a:extLst>
              <a:ext uri="{FF2B5EF4-FFF2-40B4-BE49-F238E27FC236}">
                <a16:creationId xmlns:a16="http://schemas.microsoft.com/office/drawing/2014/main" id="{5AFFD7DB-5FAA-0BD8-EB5F-5F15CDCC0556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249A470A-66FB-D19D-5A8F-10A9CB9761D9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1" name="CH01">
            <a:extLst>
              <a:ext uri="{FF2B5EF4-FFF2-40B4-BE49-F238E27FC236}">
                <a16:creationId xmlns:a16="http://schemas.microsoft.com/office/drawing/2014/main" id="{A2431E05-F91C-FC08-D1BA-60ED72ECBD85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53BAF0E-1CE3-94E9-9137-7A3CACDC20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771429"/>
              </p:ext>
            </p:extLst>
          </p:nvPr>
        </p:nvGraphicFramePr>
        <p:xfrm>
          <a:off x="1612687" y="1754580"/>
          <a:ext cx="15305000" cy="7754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4C5042F4-7088-4A31-A1DA-012DAEDA9DFC}"/>
              </a:ext>
            </a:extLst>
          </p:cNvPr>
          <p:cNvSpPr/>
          <p:nvPr/>
        </p:nvSpPr>
        <p:spPr>
          <a:xfrm>
            <a:off x="9022813" y="49588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81CA11-92D5-4EC2-B707-FE73BA99792A}"/>
              </a:ext>
            </a:extLst>
          </p:cNvPr>
          <p:cNvSpPr/>
          <p:nvPr/>
        </p:nvSpPr>
        <p:spPr>
          <a:xfrm>
            <a:off x="9022813" y="49588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46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DAD3-1F44-ABE2-8D7E-9B22F954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CD3FF4E9-52D2-4D3D-0B85-B3719B94D3D0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System Architecture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06BEC852-EBE7-C8A7-F8B6-1207936407A5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E93E50-4451-0D05-B7B1-2FB2EA53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C107D11-1F9B-2860-7373-75FD83427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4" name="Google Shape;142;p26">
            <a:extLst>
              <a:ext uri="{FF2B5EF4-FFF2-40B4-BE49-F238E27FC236}">
                <a16:creationId xmlns:a16="http://schemas.microsoft.com/office/drawing/2014/main" id="{C978E602-796C-23CE-908E-42CC9900D15B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6" name="Google Shape;142;p26">
            <a:extLst>
              <a:ext uri="{FF2B5EF4-FFF2-40B4-BE49-F238E27FC236}">
                <a16:creationId xmlns:a16="http://schemas.microsoft.com/office/drawing/2014/main" id="{84BFCD24-622F-3C2B-3256-4CBBF117E47F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6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7" name="CH01Title">
            <a:extLst>
              <a:ext uri="{FF2B5EF4-FFF2-40B4-BE49-F238E27FC236}">
                <a16:creationId xmlns:a16="http://schemas.microsoft.com/office/drawing/2014/main" id="{5976BF0A-5CB7-147C-581A-6AE6032ECB05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238FA458-A50C-58C6-8B7A-6BE7E5A5DACE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9" name="Google Shape;142;p26">
            <a:extLst>
              <a:ext uri="{FF2B5EF4-FFF2-40B4-BE49-F238E27FC236}">
                <a16:creationId xmlns:a16="http://schemas.microsoft.com/office/drawing/2014/main" id="{51538B91-0360-B559-9394-28AFD8469DAB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1" name="Google Shape;142;p26">
            <a:extLst>
              <a:ext uri="{FF2B5EF4-FFF2-40B4-BE49-F238E27FC236}">
                <a16:creationId xmlns:a16="http://schemas.microsoft.com/office/drawing/2014/main" id="{67B1030F-9CAB-4EAC-EDCF-F95383505FCF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833B02CF-9BFE-AA87-C901-3B0771D0F49F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C72CD8E7-55CF-F3E1-C0FF-FC26460E5A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610" y="2029726"/>
            <a:ext cx="14094780" cy="7000219"/>
          </a:xfrm>
          <a:prstGeom prst="rect">
            <a:avLst/>
          </a:prstGeom>
        </p:spPr>
      </p:pic>
      <p:sp>
        <p:nvSpPr>
          <p:cNvPr id="22" name="CH01">
            <a:extLst>
              <a:ext uri="{FF2B5EF4-FFF2-40B4-BE49-F238E27FC236}">
                <a16:creationId xmlns:a16="http://schemas.microsoft.com/office/drawing/2014/main" id="{A1C05825-1B5D-30C8-A177-98D3F3DEA2D6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595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BC57-FBD1-8C66-BF14-36E69395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0CBB6B24-7D23-B7EB-0E2D-C5D4A231AF0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NEST Device - Functions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21CCBD21-D073-1CAC-70F0-89063C2D566E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D90C910-5FBF-7CCA-9F39-77D4AE900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1BFDEFF-4CB6-9AEE-4149-BDB3A7F2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FE6E30A3-DDD4-954E-C795-FD49BE7AC3BA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008FA0D2-5683-D59A-B264-225533C6C00D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7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2CE8B28F-D094-E055-5043-C5280D4F0F0B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02CE5C0D-9AC5-698C-6402-A476431B7FAB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1F6D50BA-56A7-7827-8B26-940D78E56D17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E38C1B40-F89D-8605-B808-C8B3A2CE2AE5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BD1056AE-C5CF-CE2F-E1CA-3E3127AB49E2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C310C16E-4FBC-7E30-5000-05A72060B631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331B26D-BCD4-0ED3-96D9-FF410B30198E}"/>
              </a:ext>
            </a:extLst>
          </p:cNvPr>
          <p:cNvSpPr/>
          <p:nvPr/>
        </p:nvSpPr>
        <p:spPr>
          <a:xfrm>
            <a:off x="6042180" y="1996441"/>
            <a:ext cx="107639" cy="7236823"/>
          </a:xfrm>
          <a:prstGeom prst="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s-ES" sz="12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AFBCAE-7C67-6070-FD05-FFDFF42025C9}"/>
              </a:ext>
            </a:extLst>
          </p:cNvPr>
          <p:cNvSpPr/>
          <p:nvPr/>
        </p:nvSpPr>
        <p:spPr>
          <a:xfrm>
            <a:off x="12138180" y="1996441"/>
            <a:ext cx="107639" cy="7236823"/>
          </a:xfrm>
          <a:prstGeom prst="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s-ES" sz="12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79DB20B7-2B81-9208-7F54-40B12E265B72}"/>
              </a:ext>
            </a:extLst>
          </p:cNvPr>
          <p:cNvSpPr txBox="1"/>
          <p:nvPr/>
        </p:nvSpPr>
        <p:spPr>
          <a:xfrm>
            <a:off x="0" y="2475842"/>
            <a:ext cx="6042179" cy="30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sz="2800" b="1" spc="-41" noProof="0">
                <a:latin typeface="Arial Bold"/>
                <a:ea typeface="Arial Bold"/>
                <a:cs typeface="Arial Bold"/>
                <a:sym typeface="Arial Bold"/>
              </a:rPr>
              <a:t>Periodical Measurement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E357A978-2B31-1F14-1D20-91B3ED2DD268}"/>
              </a:ext>
            </a:extLst>
          </p:cNvPr>
          <p:cNvSpPr txBox="1"/>
          <p:nvPr/>
        </p:nvSpPr>
        <p:spPr>
          <a:xfrm>
            <a:off x="6095999" y="2475842"/>
            <a:ext cx="6042179" cy="30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sz="2800" b="1" spc="-41" noProof="0">
                <a:latin typeface="Arial Bold"/>
                <a:ea typeface="Arial Bold"/>
                <a:cs typeface="Arial Bold"/>
                <a:sym typeface="Arial Bold"/>
              </a:rPr>
              <a:t>Non-Periodical Measurement</a:t>
            </a: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2DBB07AA-2187-C5F3-0E0D-DC3B054AEFCE}"/>
              </a:ext>
            </a:extLst>
          </p:cNvPr>
          <p:cNvSpPr txBox="1"/>
          <p:nvPr/>
        </p:nvSpPr>
        <p:spPr>
          <a:xfrm>
            <a:off x="12138178" y="2475842"/>
            <a:ext cx="6042179" cy="306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sz="2800" b="1" spc="-41" noProof="0">
                <a:latin typeface="Arial Bold"/>
                <a:ea typeface="Arial Bold"/>
                <a:cs typeface="Arial Bold"/>
                <a:sym typeface="Arial Bold"/>
              </a:rPr>
              <a:t>Commands (Attributes)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814A7ABE-2026-9AF7-6A91-6D0E64B46088}"/>
              </a:ext>
            </a:extLst>
          </p:cNvPr>
          <p:cNvGrpSpPr/>
          <p:nvPr/>
        </p:nvGrpSpPr>
        <p:grpSpPr>
          <a:xfrm>
            <a:off x="937540" y="3464628"/>
            <a:ext cx="2254935" cy="1856318"/>
            <a:chOff x="1027143" y="3440455"/>
            <a:chExt cx="2254935" cy="1856318"/>
          </a:xfrm>
        </p:grpSpPr>
        <p:pic>
          <p:nvPicPr>
            <p:cNvPr id="30" name="Gráfico 29" descr="Termómetro con relleno sólido">
              <a:extLst>
                <a:ext uri="{FF2B5EF4-FFF2-40B4-BE49-F238E27FC236}">
                  <a16:creationId xmlns:a16="http://schemas.microsoft.com/office/drawing/2014/main" id="{5CDD0561-1278-9C07-F978-3F6584A9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48823" y="3440455"/>
              <a:ext cx="1411575" cy="1411575"/>
            </a:xfrm>
            <a:prstGeom prst="rect">
              <a:avLst/>
            </a:prstGeom>
          </p:spPr>
        </p:pic>
        <p:sp>
          <p:nvSpPr>
            <p:cNvPr id="48" name="TextBox 17">
              <a:extLst>
                <a:ext uri="{FF2B5EF4-FFF2-40B4-BE49-F238E27FC236}">
                  <a16:creationId xmlns:a16="http://schemas.microsoft.com/office/drawing/2014/main" id="{15951171-839C-A20A-CF9D-A6F6794E4F65}"/>
                </a:ext>
              </a:extLst>
            </p:cNvPr>
            <p:cNvSpPr txBox="1"/>
            <p:nvPr/>
          </p:nvSpPr>
          <p:spPr>
            <a:xfrm>
              <a:off x="1027143" y="4990227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Temperature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D896F2EF-30F0-17A4-1635-F54FBD2EE3B9}"/>
              </a:ext>
            </a:extLst>
          </p:cNvPr>
          <p:cNvGrpSpPr/>
          <p:nvPr/>
        </p:nvGrpSpPr>
        <p:grpSpPr>
          <a:xfrm>
            <a:off x="3157413" y="3766662"/>
            <a:ext cx="2254935" cy="1554284"/>
            <a:chOff x="3158441" y="3766662"/>
            <a:chExt cx="2254935" cy="1554284"/>
          </a:xfrm>
        </p:grpSpPr>
        <p:pic>
          <p:nvPicPr>
            <p:cNvPr id="32" name="Gráfico 31" descr="Agua con relleno sólido">
              <a:extLst>
                <a:ext uri="{FF2B5EF4-FFF2-40B4-BE49-F238E27FC236}">
                  <a16:creationId xmlns:a16="http://schemas.microsoft.com/office/drawing/2014/main" id="{2718C509-7064-DF1A-4CE0-C8E014836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16645" y="3766662"/>
              <a:ext cx="1138526" cy="1138526"/>
            </a:xfrm>
            <a:prstGeom prst="rect">
              <a:avLst/>
            </a:prstGeom>
          </p:spPr>
        </p:pic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03F0F3D1-DF17-33BA-FBCB-AC87618EE2ED}"/>
                </a:ext>
              </a:extLst>
            </p:cNvPr>
            <p:cNvSpPr txBox="1"/>
            <p:nvPr/>
          </p:nvSpPr>
          <p:spPr>
            <a:xfrm>
              <a:off x="3158441" y="5014400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Humidity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75DA9538-4070-787C-B74F-67234673B977}"/>
              </a:ext>
            </a:extLst>
          </p:cNvPr>
          <p:cNvGrpSpPr/>
          <p:nvPr/>
        </p:nvGrpSpPr>
        <p:grpSpPr>
          <a:xfrm>
            <a:off x="937540" y="6448904"/>
            <a:ext cx="2254935" cy="1649246"/>
            <a:chOff x="996195" y="5801113"/>
            <a:chExt cx="2254935" cy="1649246"/>
          </a:xfrm>
        </p:grpSpPr>
        <p:pic>
          <p:nvPicPr>
            <p:cNvPr id="34" name="Gráfico 33" descr="Pesos desiguales con relleno sólido">
              <a:extLst>
                <a:ext uri="{FF2B5EF4-FFF2-40B4-BE49-F238E27FC236}">
                  <a16:creationId xmlns:a16="http://schemas.microsoft.com/office/drawing/2014/main" id="{15DFE967-E225-0093-F9AB-7AEE0EC0B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95509" y="5801113"/>
              <a:ext cx="1256306" cy="1256306"/>
            </a:xfrm>
            <a:prstGeom prst="rect">
              <a:avLst/>
            </a:prstGeom>
          </p:spPr>
        </p:pic>
        <p:sp>
          <p:nvSpPr>
            <p:cNvPr id="50" name="TextBox 17">
              <a:extLst>
                <a:ext uri="{FF2B5EF4-FFF2-40B4-BE49-F238E27FC236}">
                  <a16:creationId xmlns:a16="http://schemas.microsoft.com/office/drawing/2014/main" id="{D19986C9-001D-F91C-AD5C-57F740DA7D1C}"/>
                </a:ext>
              </a:extLst>
            </p:cNvPr>
            <p:cNvSpPr txBox="1"/>
            <p:nvPr/>
          </p:nvSpPr>
          <p:spPr>
            <a:xfrm>
              <a:off x="996195" y="7143813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Weight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10F682D-63AF-6878-F92A-E364EAD404ED}"/>
              </a:ext>
            </a:extLst>
          </p:cNvPr>
          <p:cNvGrpSpPr/>
          <p:nvPr/>
        </p:nvGrpSpPr>
        <p:grpSpPr>
          <a:xfrm>
            <a:off x="3157413" y="6176249"/>
            <a:ext cx="2254935" cy="1921901"/>
            <a:chOff x="3173459" y="5614852"/>
            <a:chExt cx="2254935" cy="1921901"/>
          </a:xfrm>
        </p:grpSpPr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7508B2E3-CBD1-19A1-C844-9740E587050D}"/>
                </a:ext>
              </a:extLst>
            </p:cNvPr>
            <p:cNvGrpSpPr/>
            <p:nvPr/>
          </p:nvGrpSpPr>
          <p:grpSpPr>
            <a:xfrm>
              <a:off x="3566295" y="5614852"/>
              <a:ext cx="1469263" cy="1561360"/>
              <a:chOff x="3386502" y="5614852"/>
              <a:chExt cx="1469263" cy="1561360"/>
            </a:xfrm>
          </p:grpSpPr>
          <p:pic>
            <p:nvPicPr>
              <p:cNvPr id="36" name="Gráfico 35" descr="Hombre con relleno sólido">
                <a:extLst>
                  <a:ext uri="{FF2B5EF4-FFF2-40B4-BE49-F238E27FC236}">
                    <a16:creationId xmlns:a16="http://schemas.microsoft.com/office/drawing/2014/main" id="{5BA05D3C-42E7-DC5B-9477-37E485FFB8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386502" y="561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8" name="Gráfico 37" descr="Pollo contorno">
                <a:extLst>
                  <a:ext uri="{FF2B5EF4-FFF2-40B4-BE49-F238E27FC236}">
                    <a16:creationId xmlns:a16="http://schemas.microsoft.com/office/drawing/2014/main" id="{1BBC646D-824B-94D0-5053-082C80DE4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941365" y="6261812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1" name="TextBox 17">
              <a:extLst>
                <a:ext uri="{FF2B5EF4-FFF2-40B4-BE49-F238E27FC236}">
                  <a16:creationId xmlns:a16="http://schemas.microsoft.com/office/drawing/2014/main" id="{B54AD7FD-10FE-168D-81EE-0E36357756C8}"/>
                </a:ext>
              </a:extLst>
            </p:cNvPr>
            <p:cNvSpPr txBox="1"/>
            <p:nvPr/>
          </p:nvSpPr>
          <p:spPr>
            <a:xfrm>
              <a:off x="3173459" y="7230207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UID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1CD88BF5-D3C9-EA98-B9ED-A584B0F09D9A}"/>
              </a:ext>
            </a:extLst>
          </p:cNvPr>
          <p:cNvGrpSpPr/>
          <p:nvPr/>
        </p:nvGrpSpPr>
        <p:grpSpPr>
          <a:xfrm>
            <a:off x="12832208" y="3906512"/>
            <a:ext cx="2254935" cy="1643156"/>
            <a:chOff x="13057792" y="3432680"/>
            <a:chExt cx="2254935" cy="1643156"/>
          </a:xfrm>
        </p:grpSpPr>
        <p:pic>
          <p:nvPicPr>
            <p:cNvPr id="43" name="Gráfico 42" descr="Bombilla con relleno sólido">
              <a:extLst>
                <a:ext uri="{FF2B5EF4-FFF2-40B4-BE49-F238E27FC236}">
                  <a16:creationId xmlns:a16="http://schemas.microsoft.com/office/drawing/2014/main" id="{650A9970-B621-4E9E-CA96-110D00389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3614632" y="3432680"/>
              <a:ext cx="1141255" cy="1141255"/>
            </a:xfrm>
            <a:prstGeom prst="rect">
              <a:avLst/>
            </a:prstGeom>
          </p:spPr>
        </p:pic>
        <p:sp>
          <p:nvSpPr>
            <p:cNvPr id="53" name="TextBox 17">
              <a:extLst>
                <a:ext uri="{FF2B5EF4-FFF2-40B4-BE49-F238E27FC236}">
                  <a16:creationId xmlns:a16="http://schemas.microsoft.com/office/drawing/2014/main" id="{0BBA8C93-683D-C771-FC6B-DA7BF90B482A}"/>
                </a:ext>
              </a:extLst>
            </p:cNvPr>
            <p:cNvSpPr txBox="1"/>
            <p:nvPr/>
          </p:nvSpPr>
          <p:spPr>
            <a:xfrm>
              <a:off x="13057792" y="4769290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RGB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9472F32C-329D-7EA6-93BA-43214074DF87}"/>
              </a:ext>
            </a:extLst>
          </p:cNvPr>
          <p:cNvGrpSpPr/>
          <p:nvPr/>
        </p:nvGrpSpPr>
        <p:grpSpPr>
          <a:xfrm>
            <a:off x="15599577" y="4787424"/>
            <a:ext cx="2254935" cy="1668125"/>
            <a:chOff x="15293192" y="5167673"/>
            <a:chExt cx="2254935" cy="1668125"/>
          </a:xfrm>
        </p:grpSpPr>
        <p:pic>
          <p:nvPicPr>
            <p:cNvPr id="45" name="Gráfico 44" descr="Puerta abierta con relleno sólido">
              <a:extLst>
                <a:ext uri="{FF2B5EF4-FFF2-40B4-BE49-F238E27FC236}">
                  <a16:creationId xmlns:a16="http://schemas.microsoft.com/office/drawing/2014/main" id="{0586A1CD-3BEC-720D-ED79-A39649904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5812681" y="5167673"/>
              <a:ext cx="1215957" cy="1215957"/>
            </a:xfrm>
            <a:prstGeom prst="rect">
              <a:avLst/>
            </a:prstGeom>
          </p:spPr>
        </p:pic>
        <p:sp>
          <p:nvSpPr>
            <p:cNvPr id="54" name="TextBox 17">
              <a:extLst>
                <a:ext uri="{FF2B5EF4-FFF2-40B4-BE49-F238E27FC236}">
                  <a16:creationId xmlns:a16="http://schemas.microsoft.com/office/drawing/2014/main" id="{8F69BEE9-BBFC-9DD7-1462-A4D58FC75E7A}"/>
                </a:ext>
              </a:extLst>
            </p:cNvPr>
            <p:cNvSpPr txBox="1"/>
            <p:nvPr/>
          </p:nvSpPr>
          <p:spPr>
            <a:xfrm>
              <a:off x="15293192" y="6529252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Door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D4EDF4D1-F591-EC6B-C2DA-821725F1BB9D}"/>
              </a:ext>
            </a:extLst>
          </p:cNvPr>
          <p:cNvGrpSpPr/>
          <p:nvPr/>
        </p:nvGrpSpPr>
        <p:grpSpPr>
          <a:xfrm>
            <a:off x="13959675" y="6447045"/>
            <a:ext cx="2254935" cy="1601765"/>
            <a:chOff x="13374520" y="6888648"/>
            <a:chExt cx="2254935" cy="1601765"/>
          </a:xfrm>
        </p:grpSpPr>
        <p:pic>
          <p:nvPicPr>
            <p:cNvPr id="47" name="Gráfico 46" descr="Reloj despertador con relleno sólido">
              <a:extLst>
                <a:ext uri="{FF2B5EF4-FFF2-40B4-BE49-F238E27FC236}">
                  <a16:creationId xmlns:a16="http://schemas.microsoft.com/office/drawing/2014/main" id="{535A694F-EFEE-4D5E-79D6-6F8F1C47C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889434" y="6888648"/>
              <a:ext cx="1225106" cy="1225106"/>
            </a:xfrm>
            <a:prstGeom prst="rect">
              <a:avLst/>
            </a:prstGeom>
          </p:spPr>
        </p:pic>
        <p:sp>
          <p:nvSpPr>
            <p:cNvPr id="55" name="TextBox 17">
              <a:extLst>
                <a:ext uri="{FF2B5EF4-FFF2-40B4-BE49-F238E27FC236}">
                  <a16:creationId xmlns:a16="http://schemas.microsoft.com/office/drawing/2014/main" id="{1A1AC053-E763-83F4-B020-60C282D4102F}"/>
                </a:ext>
              </a:extLst>
            </p:cNvPr>
            <p:cNvSpPr txBox="1"/>
            <p:nvPr/>
          </p:nvSpPr>
          <p:spPr>
            <a:xfrm>
              <a:off x="13374520" y="8183867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Period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5348E5F8-2E1F-5AC3-69D3-20165EAAD56A}"/>
              </a:ext>
            </a:extLst>
          </p:cNvPr>
          <p:cNvGrpSpPr/>
          <p:nvPr/>
        </p:nvGrpSpPr>
        <p:grpSpPr>
          <a:xfrm>
            <a:off x="7989620" y="4486419"/>
            <a:ext cx="2254935" cy="1921901"/>
            <a:chOff x="3173459" y="5614852"/>
            <a:chExt cx="2254935" cy="1921901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4515B604-2E99-E460-8848-B31B649308D0}"/>
                </a:ext>
              </a:extLst>
            </p:cNvPr>
            <p:cNvGrpSpPr/>
            <p:nvPr/>
          </p:nvGrpSpPr>
          <p:grpSpPr>
            <a:xfrm>
              <a:off x="3566295" y="5614852"/>
              <a:ext cx="1469263" cy="1561360"/>
              <a:chOff x="3386502" y="5614852"/>
              <a:chExt cx="1469263" cy="1561360"/>
            </a:xfrm>
          </p:grpSpPr>
          <p:pic>
            <p:nvPicPr>
              <p:cNvPr id="64" name="Gráfico 63" descr="Hombre con relleno sólido">
                <a:extLst>
                  <a:ext uri="{FF2B5EF4-FFF2-40B4-BE49-F238E27FC236}">
                    <a16:creationId xmlns:a16="http://schemas.microsoft.com/office/drawing/2014/main" id="{6392E2C3-3E7B-0614-C9CC-8E6210EA2C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386502" y="561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5" name="Gráfico 64" descr="Pollo contorno">
                <a:extLst>
                  <a:ext uri="{FF2B5EF4-FFF2-40B4-BE49-F238E27FC236}">
                    <a16:creationId xmlns:a16="http://schemas.microsoft.com/office/drawing/2014/main" id="{E206C6DF-F5C6-CDBB-8C64-61640E764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941365" y="6261812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3" name="TextBox 17">
              <a:extLst>
                <a:ext uri="{FF2B5EF4-FFF2-40B4-BE49-F238E27FC236}">
                  <a16:creationId xmlns:a16="http://schemas.microsoft.com/office/drawing/2014/main" id="{6F7C86E8-A660-1E40-2175-CCF205B2C398}"/>
                </a:ext>
              </a:extLst>
            </p:cNvPr>
            <p:cNvSpPr txBox="1"/>
            <p:nvPr/>
          </p:nvSpPr>
          <p:spPr>
            <a:xfrm>
              <a:off x="3173459" y="7230207"/>
              <a:ext cx="2254935" cy="3065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400" b="1" spc="-41">
                  <a:latin typeface="Arial Bold"/>
                  <a:ea typeface="Arial Bold"/>
                  <a:cs typeface="Arial Bold"/>
                  <a:sym typeface="Arial Bold"/>
                </a:rPr>
                <a:t>UID</a:t>
              </a:r>
              <a:endParaRPr lang="en-US" sz="24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52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3910-EFF0-9202-A06A-CC55C146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0285ED4D-E850-8D26-8C01-8FBF7144B2F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NEST Device - Hardware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31E50A4-4F2A-8AC9-76E5-B006DFF528FB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FE7BC4-6701-0383-0C7E-DA678CCE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B261644-D06B-7B67-46A3-252DB5B7B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AD40F15C-A2A7-6E5B-958C-96D68F3A1E2F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DA67A551-84DA-4F09-62B6-B88529196F33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8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81D64397-36B0-D7DD-FBF4-7B8CE3135FE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AF1BF95E-EC2C-3095-50D7-7BA4E7485E59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389BBE76-AE0C-AA7E-5502-3F18E0DDA913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D9EB56A8-9CA1-B96F-DEDF-6173FF3F32DA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39C5E62B-3A17-D421-28F2-3A10BD795EDF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20C0E0B3-1D14-0619-9A5D-E40C7ED03CD1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1B8D6A2-27DE-C746-0C08-8CC51E90C864}"/>
              </a:ext>
            </a:extLst>
          </p:cNvPr>
          <p:cNvGrpSpPr/>
          <p:nvPr/>
        </p:nvGrpSpPr>
        <p:grpSpPr>
          <a:xfrm>
            <a:off x="880695" y="2613767"/>
            <a:ext cx="3166028" cy="2902528"/>
            <a:chOff x="1773066" y="2496357"/>
            <a:chExt cx="3166028" cy="2902528"/>
          </a:xfrm>
        </p:grpSpPr>
        <p:pic>
          <p:nvPicPr>
            <p:cNvPr id="1026" name="Picture 2" descr="5. DHT22 - Digital Temperature and Humidity Sensor">
              <a:extLst>
                <a:ext uri="{FF2B5EF4-FFF2-40B4-BE49-F238E27FC236}">
                  <a16:creationId xmlns:a16="http://schemas.microsoft.com/office/drawing/2014/main" id="{62C0F5B5-3161-1E56-CA18-218E3B381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066" y="2496357"/>
              <a:ext cx="3166028" cy="2292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12D5E8F1-F3A8-B315-FBE3-CC8AFD8D1F23}"/>
                </a:ext>
              </a:extLst>
            </p:cNvPr>
            <p:cNvSpPr txBox="1"/>
            <p:nvPr/>
          </p:nvSpPr>
          <p:spPr>
            <a:xfrm>
              <a:off x="2010606" y="5095917"/>
              <a:ext cx="2690949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 noProof="0">
                  <a:latin typeface="Arial Bold"/>
                  <a:ea typeface="Arial Bold"/>
                  <a:cs typeface="Arial Bold"/>
                  <a:sym typeface="Arial Bold"/>
                </a:rPr>
                <a:t>DHT22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D6B4205-AD8F-BA7F-9B0A-5288A468BEB8}"/>
              </a:ext>
            </a:extLst>
          </p:cNvPr>
          <p:cNvGrpSpPr/>
          <p:nvPr/>
        </p:nvGrpSpPr>
        <p:grpSpPr>
          <a:xfrm>
            <a:off x="4870086" y="2138679"/>
            <a:ext cx="3205843" cy="3377616"/>
            <a:chOff x="6705550" y="2096996"/>
            <a:chExt cx="3205843" cy="3377616"/>
          </a:xfrm>
        </p:grpSpPr>
        <p:pic>
          <p:nvPicPr>
            <p:cNvPr id="1028" name="Picture 4" descr="DIYmalls 4pcs Load Cell 50kg Weight Sensor Half-Bridge Human Body Scale  Strain Gauge with Amplifier + 1pcs HX711 AD Weighing Module for Arduino :  Amazon.es: Industria, empresas y ciencia">
              <a:extLst>
                <a:ext uri="{FF2B5EF4-FFF2-40B4-BE49-F238E27FC236}">
                  <a16:creationId xmlns:a16="http://schemas.microsoft.com/office/drawing/2014/main" id="{2242792E-23C8-1F71-9157-502B28A48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9856" y="2096996"/>
              <a:ext cx="2677231" cy="3046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17">
              <a:extLst>
                <a:ext uri="{FF2B5EF4-FFF2-40B4-BE49-F238E27FC236}">
                  <a16:creationId xmlns:a16="http://schemas.microsoft.com/office/drawing/2014/main" id="{EF21E18A-251F-12DD-B688-7873D10F454E}"/>
                </a:ext>
              </a:extLst>
            </p:cNvPr>
            <p:cNvSpPr txBox="1"/>
            <p:nvPr/>
          </p:nvSpPr>
          <p:spPr>
            <a:xfrm>
              <a:off x="6705550" y="5171644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 noProof="0">
                  <a:latin typeface="Arial Bold"/>
                  <a:ea typeface="Arial Bold"/>
                  <a:cs typeface="Arial Bold"/>
                  <a:sym typeface="Arial Bold"/>
                </a:rPr>
                <a:t>Load Cell + HX711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31CFA9E-33E5-2E29-4309-0DC67FA4ED68}"/>
              </a:ext>
            </a:extLst>
          </p:cNvPr>
          <p:cNvGrpSpPr/>
          <p:nvPr/>
        </p:nvGrpSpPr>
        <p:grpSpPr>
          <a:xfrm>
            <a:off x="880695" y="5708861"/>
            <a:ext cx="3205843" cy="3310326"/>
            <a:chOff x="1484905" y="5474612"/>
            <a:chExt cx="3205843" cy="3310326"/>
          </a:xfrm>
        </p:grpSpPr>
        <p:pic>
          <p:nvPicPr>
            <p:cNvPr id="1032" name="Picture 8" descr="MICROSERVO SG90 180º / 360º">
              <a:extLst>
                <a:ext uri="{FF2B5EF4-FFF2-40B4-BE49-F238E27FC236}">
                  <a16:creationId xmlns:a16="http://schemas.microsoft.com/office/drawing/2014/main" id="{4961155D-A2A1-7C21-1183-9887E9DE7E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905" y="5474612"/>
              <a:ext cx="3205843" cy="3205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17">
              <a:extLst>
                <a:ext uri="{FF2B5EF4-FFF2-40B4-BE49-F238E27FC236}">
                  <a16:creationId xmlns:a16="http://schemas.microsoft.com/office/drawing/2014/main" id="{3D39C11E-4E19-70D2-3EC6-F928473BEC14}"/>
                </a:ext>
              </a:extLst>
            </p:cNvPr>
            <p:cNvSpPr txBox="1"/>
            <p:nvPr/>
          </p:nvSpPr>
          <p:spPr>
            <a:xfrm>
              <a:off x="1484905" y="8481970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 noProof="0">
                  <a:latin typeface="Arial Bold"/>
                  <a:ea typeface="Arial Bold"/>
                  <a:cs typeface="Arial Bold"/>
                  <a:sym typeface="Arial Bold"/>
                </a:rPr>
                <a:t>SG90-180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C33061E-5E98-B9B5-1376-400DFEF32459}"/>
              </a:ext>
            </a:extLst>
          </p:cNvPr>
          <p:cNvGrpSpPr/>
          <p:nvPr/>
        </p:nvGrpSpPr>
        <p:grpSpPr>
          <a:xfrm>
            <a:off x="4753106" y="6601823"/>
            <a:ext cx="3205843" cy="2417364"/>
            <a:chOff x="6559867" y="6298855"/>
            <a:chExt cx="3205843" cy="2417364"/>
          </a:xfrm>
        </p:grpSpPr>
        <p:pic>
          <p:nvPicPr>
            <p:cNvPr id="1036" name="Picture 12" descr="L-154A4SUREQBFZGEC | LED Kingbright, RGB, 465 / 525 / 630 nm, Vf= 2,5 V a 4  V, 50 °, mont. pasante, encapsulado 5 mm (T-1 3/4) de 4 pines | RS">
              <a:extLst>
                <a:ext uri="{FF2B5EF4-FFF2-40B4-BE49-F238E27FC236}">
                  <a16:creationId xmlns:a16="http://schemas.microsoft.com/office/drawing/2014/main" id="{17C77FCB-51AF-25E0-90C4-55B4FECA6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7197222" y="6298855"/>
              <a:ext cx="1931132" cy="1923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7E181B3A-9E6E-93A3-520C-38E600B65249}"/>
                </a:ext>
              </a:extLst>
            </p:cNvPr>
            <p:cNvSpPr txBox="1"/>
            <p:nvPr/>
          </p:nvSpPr>
          <p:spPr>
            <a:xfrm>
              <a:off x="6559867" y="8413251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>
                  <a:latin typeface="Arial Bold"/>
                  <a:ea typeface="Arial Bold"/>
                  <a:cs typeface="Arial Bold"/>
                  <a:sym typeface="Arial Bold"/>
                </a:rPr>
                <a:t>RGB LED</a:t>
              </a:r>
              <a:endParaRPr lang="en-US" sz="28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3ABDA03-2A87-4849-BEE9-EDFA0A2C4542}"/>
              </a:ext>
            </a:extLst>
          </p:cNvPr>
          <p:cNvGrpSpPr/>
          <p:nvPr/>
        </p:nvGrpSpPr>
        <p:grpSpPr>
          <a:xfrm>
            <a:off x="8830239" y="6385482"/>
            <a:ext cx="3874226" cy="2633705"/>
            <a:chOff x="8830239" y="6385482"/>
            <a:chExt cx="3874226" cy="2633705"/>
          </a:xfrm>
        </p:grpSpPr>
        <p:pic>
          <p:nvPicPr>
            <p:cNvPr id="1034" name="Picture 10" descr="NodeMCU ESP32-C | Joy-IT">
              <a:extLst>
                <a:ext uri="{FF2B5EF4-FFF2-40B4-BE49-F238E27FC236}">
                  <a16:creationId xmlns:a16="http://schemas.microsoft.com/office/drawing/2014/main" id="{4C97B958-2750-69A7-AF22-7911A8FB4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0239" y="6385482"/>
              <a:ext cx="3874226" cy="2049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97588DF4-F6CF-E13D-EFD4-23842852043B}"/>
                </a:ext>
              </a:extLst>
            </p:cNvPr>
            <p:cNvSpPr txBox="1"/>
            <p:nvPr/>
          </p:nvSpPr>
          <p:spPr>
            <a:xfrm>
              <a:off x="9164431" y="8716219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 noProof="0" dirty="0">
                  <a:latin typeface="Arial Bold"/>
                  <a:ea typeface="Arial Bold"/>
                  <a:cs typeface="Arial Bold"/>
                  <a:sym typeface="Arial Bold"/>
                </a:rPr>
                <a:t>ESP32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CD7C002-0C62-E2E9-6D3B-D9F84DB991E9}"/>
              </a:ext>
            </a:extLst>
          </p:cNvPr>
          <p:cNvGrpSpPr/>
          <p:nvPr/>
        </p:nvGrpSpPr>
        <p:grpSpPr>
          <a:xfrm>
            <a:off x="9104014" y="1723420"/>
            <a:ext cx="3666309" cy="3792875"/>
            <a:chOff x="12357459" y="1971617"/>
            <a:chExt cx="3666309" cy="3792875"/>
          </a:xfrm>
        </p:grpSpPr>
        <p:pic>
          <p:nvPicPr>
            <p:cNvPr id="1030" name="Picture 6" descr="Tutorial módulo Lector RFID RC522">
              <a:extLst>
                <a:ext uri="{FF2B5EF4-FFF2-40B4-BE49-F238E27FC236}">
                  <a16:creationId xmlns:a16="http://schemas.microsoft.com/office/drawing/2014/main" id="{6771496F-D918-C071-A099-6D66A095B2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57459" y="1971617"/>
              <a:ext cx="3666309" cy="3666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8E768095-3539-D23E-2716-012A67F1A35F}"/>
                </a:ext>
              </a:extLst>
            </p:cNvPr>
            <p:cNvSpPr txBox="1"/>
            <p:nvPr/>
          </p:nvSpPr>
          <p:spPr>
            <a:xfrm>
              <a:off x="12587692" y="5461524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>
                  <a:latin typeface="Arial Bold"/>
                  <a:ea typeface="Arial Bold"/>
                  <a:cs typeface="Arial Bold"/>
                  <a:sym typeface="Arial Bold"/>
                </a:rPr>
                <a:t>MRFC522</a:t>
              </a:r>
              <a:endParaRPr lang="en-US" sz="2800" b="1" spc="-41" noProof="0"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4084EE7-CF8F-4B35-B472-49A7EC75B701}"/>
              </a:ext>
            </a:extLst>
          </p:cNvPr>
          <p:cNvGrpSpPr/>
          <p:nvPr/>
        </p:nvGrpSpPr>
        <p:grpSpPr>
          <a:xfrm>
            <a:off x="13989193" y="2387166"/>
            <a:ext cx="3205843" cy="6135762"/>
            <a:chOff x="14030137" y="2332574"/>
            <a:chExt cx="3205843" cy="6135762"/>
          </a:xfrm>
        </p:grpSpPr>
        <p:pic>
          <p:nvPicPr>
            <p:cNvPr id="25" name="Picture 2" descr="REALME 12 5G, Twilight Purple, Móvil Android, 256 GB, 8 GB RAM, 6,72 &quot; LCD  Full HD+, MediaTek Dimensity 6100+, 5000 mAh">
              <a:extLst>
                <a:ext uri="{FF2B5EF4-FFF2-40B4-BE49-F238E27FC236}">
                  <a16:creationId xmlns:a16="http://schemas.microsoft.com/office/drawing/2014/main" id="{45713A7C-6A80-4B46-909F-FF77725265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59" r="33159"/>
            <a:stretch/>
          </p:blipFill>
          <p:spPr bwMode="auto">
            <a:xfrm>
              <a:off x="14436991" y="2332574"/>
              <a:ext cx="2392136" cy="5326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17">
              <a:extLst>
                <a:ext uri="{FF2B5EF4-FFF2-40B4-BE49-F238E27FC236}">
                  <a16:creationId xmlns:a16="http://schemas.microsoft.com/office/drawing/2014/main" id="{405E1FC9-87F6-4CAF-9176-B50327ECBE19}"/>
                </a:ext>
              </a:extLst>
            </p:cNvPr>
            <p:cNvSpPr txBox="1"/>
            <p:nvPr/>
          </p:nvSpPr>
          <p:spPr>
            <a:xfrm>
              <a:off x="14030137" y="8165368"/>
              <a:ext cx="3205843" cy="3029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67"/>
                </a:lnSpc>
              </a:pPr>
              <a:r>
                <a:rPr lang="en-US" sz="2800" b="1" spc="-41" noProof="0" dirty="0">
                  <a:latin typeface="Arial Bold"/>
                  <a:ea typeface="Arial Bold"/>
                  <a:cs typeface="Arial Bold"/>
                  <a:sym typeface="Arial Bold"/>
                </a:rPr>
                <a:t>Mobile Phone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68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6781-DC6D-A112-15E7-8FA351E4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E9695DDA-6276-A67B-F2A2-A1804CBAC7F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 - Devices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083A6E61-B10E-8012-9358-89BD31474155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651E60-EE47-AA19-C0D8-4947C542B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BB4F970-34B6-C8D6-FDBE-34CB477E3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00DC9E8C-3D41-BF57-7111-9E05882C7F93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DE63E52A-03D9-B369-9BBC-29ADFAB8E6AD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9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BAC62EAD-D201-7D8B-4913-BB2774592D6A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192550C7-B4D7-4B02-7E89-048F12DE8C0E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54ADE292-5813-12A7-67BC-9729B0B77EDA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E5FF0E5C-C79E-E605-F413-E9624201DAE3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5776321C-26ED-B11B-2907-0053239AA832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E64DE683-81DA-EDC5-EB02-A0A709F66B27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1D905CB7-7390-B206-8A16-C9F12058D3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4" r="1688" b="326"/>
          <a:stretch>
            <a:fillRect/>
          </a:stretch>
        </p:blipFill>
        <p:spPr>
          <a:xfrm>
            <a:off x="579639" y="2660963"/>
            <a:ext cx="7560972" cy="4965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n 5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05D38AAB-3CD1-B019-FB07-1087F34DC5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406" r="2436"/>
          <a:stretch>
            <a:fillRect/>
          </a:stretch>
        </p:blipFill>
        <p:spPr>
          <a:xfrm>
            <a:off x="9033895" y="2554842"/>
            <a:ext cx="8674466" cy="49650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640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6781-DC6D-A112-15E7-8FA351E4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E9695DDA-6276-A67B-F2A2-A1804CBAC7F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- Devices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083A6E61-B10E-8012-9358-89BD31474155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651E60-EE47-AA19-C0D8-4947C542B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BB4F970-34B6-C8D6-FDBE-34CB477E3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00DC9E8C-3D41-BF57-7111-9E05882C7F93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DE63E52A-03D9-B369-9BBC-29ADFAB8E6AD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9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BAC62EAD-D201-7D8B-4913-BB2774592D6A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192550C7-B4D7-4B02-7E89-048F12DE8C0E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54ADE292-5813-12A7-67BC-9729B0B77EDA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E5FF0E5C-C79E-E605-F413-E9624201DAE3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5776321C-26ED-B11B-2907-0053239AA832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E64DE683-81DA-EDC5-EB02-A0A709F66B27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F3B237-FC5E-4C3F-A8D2-1E2C0B1E3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3125" y="3155793"/>
            <a:ext cx="6938314" cy="3975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E80D03-B1CD-42EE-9B20-C58FF2294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1938" y="2081211"/>
            <a:ext cx="6096000" cy="6124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011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22B8-C9BD-74AB-A2AB-264A326B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47ED2F2E-BD47-C028-9A47-20E21218DB0A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-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Rule Chain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C17EC32-AD70-FAA2-603E-43492235D448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C1586-1C01-2215-DB8D-69191737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3CC0B0F-C2B5-CE82-9277-9BEEA1BA2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FAC6AA87-2171-111B-A938-C46E9533B587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7D1A6333-A7CB-AAD9-D5AD-F2ADDD8C8348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10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E8AA7303-63BE-A740-73C6-4C2A8830F61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6E9390DC-53BF-6EE6-4DF2-F7E2BFD348F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C1B7699D-B629-06F3-8296-04C5A3E78253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79834D39-FDC9-8346-ECA1-3C5E64A4C6C8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F93AAE4F-8583-5CC7-0096-32902B6DB2EC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07C74262-7577-5EB3-CA94-2596F37E715B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C60CA4-C336-4C20-96E6-DB7594257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884" y="1970382"/>
            <a:ext cx="14918232" cy="72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0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22B8-C9BD-74AB-A2AB-264A326B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47ED2F2E-BD47-C028-9A47-20E21218DB0A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-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Rule Chain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C17EC32-AD70-FAA2-603E-43492235D448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C1586-1C01-2215-DB8D-69191737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3CC0B0F-C2B5-CE82-9277-9BEEA1BA2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FAC6AA87-2171-111B-A938-C46E9533B587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7D1A6333-A7CB-AAD9-D5AD-F2ADDD8C8348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10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E8AA7303-63BE-A740-73C6-4C2A8830F61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6E9390DC-53BF-6EE6-4DF2-F7E2BFD348F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C1B7699D-B629-06F3-8296-04C5A3E78253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B63EE28-A06A-4334-8037-9C6AA1BBCB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43" r="48237" b="72437"/>
          <a:stretch/>
        </p:blipFill>
        <p:spPr>
          <a:xfrm>
            <a:off x="1773066" y="2958921"/>
            <a:ext cx="14843243" cy="4643046"/>
          </a:xfrm>
          <a:prstGeom prst="rect">
            <a:avLst/>
          </a:prstGeom>
        </p:spPr>
      </p:pic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79834D39-FDC9-8346-ECA1-3C5E64A4C6C8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F93AAE4F-8583-5CC7-0096-32902B6DB2EC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07C74262-7577-5EB3-CA94-2596F37E715B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973746-A37E-4072-AD03-F876AF3021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588"/>
          <a:stretch/>
        </p:blipFill>
        <p:spPr>
          <a:xfrm>
            <a:off x="1760187" y="2923504"/>
            <a:ext cx="14868926" cy="469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1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22B8-C9BD-74AB-A2AB-264A326B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47ED2F2E-BD47-C028-9A47-20E21218DB0A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-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Rule Chain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C17EC32-AD70-FAA2-603E-43492235D448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C1586-1C01-2215-DB8D-69191737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3CC0B0F-C2B5-CE82-9277-9BEEA1BA2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FAC6AA87-2171-111B-A938-C46E9533B587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7D1A6333-A7CB-AAD9-D5AD-F2ADDD8C8348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10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E8AA7303-63BE-A740-73C6-4C2A8830F61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6E9390DC-53BF-6EE6-4DF2-F7E2BFD348F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C1B7699D-B629-06F3-8296-04C5A3E78253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B63EE28-A06A-4334-8037-9C6AA1BBCB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303" t="25397" r="35094" b="20865"/>
          <a:stretch/>
        </p:blipFill>
        <p:spPr>
          <a:xfrm>
            <a:off x="4263015" y="1637982"/>
            <a:ext cx="9761969" cy="7586142"/>
          </a:xfrm>
          <a:prstGeom prst="rect">
            <a:avLst/>
          </a:prstGeom>
        </p:spPr>
      </p:pic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79834D39-FDC9-8346-ECA1-3C5E64A4C6C8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F93AAE4F-8583-5CC7-0096-32902B6DB2EC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07C74262-7577-5EB3-CA94-2596F37E715B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1441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22B8-C9BD-74AB-A2AB-264A326B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47ED2F2E-BD47-C028-9A47-20E21218DB0A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-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Rule Chain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C17EC32-AD70-FAA2-603E-43492235D448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C1586-1C01-2215-DB8D-69191737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3CC0B0F-C2B5-CE82-9277-9BEEA1BA2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FAC6AA87-2171-111B-A938-C46E9533B587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7D1A6333-A7CB-AAD9-D5AD-F2ADDD8C8348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10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E8AA7303-63BE-A740-73C6-4C2A8830F61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6E9390DC-53BF-6EE6-4DF2-F7E2BFD348F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C1B7699D-B629-06F3-8296-04C5A3E78253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B63EE28-A06A-4334-8037-9C6AA1BBCB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512" t="11779" r="-17" b="4394"/>
          <a:stretch/>
        </p:blipFill>
        <p:spPr>
          <a:xfrm>
            <a:off x="5962904" y="1842376"/>
            <a:ext cx="6362191" cy="7510992"/>
          </a:xfrm>
          <a:prstGeom prst="rect">
            <a:avLst/>
          </a:prstGeom>
        </p:spPr>
      </p:pic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79834D39-FDC9-8346-ECA1-3C5E64A4C6C8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F93AAE4F-8583-5CC7-0096-32902B6DB2EC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07C74262-7577-5EB3-CA94-2596F37E715B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14180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A430-542D-0876-DAFE-25DFEAF9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86756D93-B2F4-43F2-6ECD-90D2BCBC62DF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5400" b="1" spc="-116">
                <a:latin typeface="Arial Bold"/>
                <a:ea typeface="Arial Bold"/>
                <a:cs typeface="Arial Bold"/>
                <a:sym typeface="Arial Bold"/>
              </a:rPr>
              <a:t>Dashboard</a:t>
            </a:r>
            <a:endParaRPr lang="en-US" sz="5400" b="1" spc="-116" noProof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115AE47B-1466-0F5D-B1B6-B7DF657A48D4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C681751-C2EE-5E69-5AC6-D209BD87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3C495E-6816-7B81-19AA-0838A630C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DA949792-C058-8507-4891-10656F150E1C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1B22C19E-F873-3B60-556E-41605B8857C2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11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7B34ABD8-D058-5519-7ACC-F1705C4684CE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7EC6BD1E-BBB4-E3CB-28D9-2D6693A53268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2BF2AC9F-FA8A-4DC5-E2D7-166204611BF1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5817B9CC-2ED2-4C73-52CA-4C76CB4E231C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97E095C1-564C-EA23-64F4-3A400E47858C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7CED9C46-27C8-561B-C52E-B86BB1BC48F5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D19F9F-B076-45A4-8B39-E48FB8C00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348" y="2011095"/>
            <a:ext cx="11464191" cy="56904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32E41FD-9833-4565-9D40-140FA3075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099" y="2862983"/>
            <a:ext cx="13279134" cy="546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6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2E0A-8A68-F8EE-4DB1-49EF1677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012BB090-D543-927C-5A40-46E4F259A7CB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5400" b="1" spc="-116" dirty="0">
                <a:latin typeface="Arial Bold"/>
                <a:ea typeface="Arial Bold"/>
                <a:cs typeface="Arial Bold"/>
                <a:sym typeface="Arial Bold"/>
              </a:rPr>
              <a:t>Telegram</a:t>
            </a:r>
            <a:endParaRPr lang="en-US" sz="5400" b="1" spc="-116" noProof="0" dirty="0">
              <a:latin typeface="Arial Bold"/>
              <a:ea typeface="Arial Bold"/>
              <a:cs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541495FF-D673-CA0F-FDFB-E15063785732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CFF92BC-BAF0-EBE5-A685-4B42EBD52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DC52F44-704A-E6E3-BC54-2A0485AF5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2E7255DA-CB04-7FD5-D261-A79AE2FB4DAE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9558AF9D-AED8-4938-CFB7-40653F6C2B65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11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57A7F4B4-7382-1E00-94B1-D9FB3E2AF5B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2782C3AC-5101-5F78-C31D-E467F0D33A9F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B2629576-9F99-DE17-6AC0-F07B8ABE8827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6AEF36B5-E9AC-08AA-85A9-7591DEEBB218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E5771576-D87B-7C2B-6445-6B3EF93C91D6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9BF153FC-5B02-3FA7-B3D1-0BCBC49A5458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4" name="Imagen 3" descr="main_menu_bot.jpeg">
            <a:extLst>
              <a:ext uri="{FF2B5EF4-FFF2-40B4-BE49-F238E27FC236}">
                <a16:creationId xmlns:a16="http://schemas.microsoft.com/office/drawing/2014/main" id="{CE8A2028-A23B-35C6-2446-DE1C90A8A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33" y="3407410"/>
            <a:ext cx="4944533" cy="4445847"/>
          </a:xfrm>
          <a:prstGeom prst="rect">
            <a:avLst/>
          </a:prstGeom>
        </p:spPr>
      </p:pic>
      <p:pic>
        <p:nvPicPr>
          <p:cNvPr id="7" name="Imagen 6" descr="nest_selection_menu.jpeg">
            <a:extLst>
              <a:ext uri="{FF2B5EF4-FFF2-40B4-BE49-F238E27FC236}">
                <a16:creationId xmlns:a16="http://schemas.microsoft.com/office/drawing/2014/main" id="{DE59FAED-3B27-196B-876E-E5207D41D9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7" r="11710" b="506"/>
          <a:stretch>
            <a:fillRect/>
          </a:stretch>
        </p:blipFill>
        <p:spPr>
          <a:xfrm>
            <a:off x="505260" y="2956418"/>
            <a:ext cx="6681133" cy="4913627"/>
          </a:xfrm>
          <a:prstGeom prst="rect">
            <a:avLst/>
          </a:prstGeom>
        </p:spPr>
      </p:pic>
      <p:pic>
        <p:nvPicPr>
          <p:cNvPr id="8" name="Imagen 7" descr="nest_menu.jpeg">
            <a:extLst>
              <a:ext uri="{FF2B5EF4-FFF2-40B4-BE49-F238E27FC236}">
                <a16:creationId xmlns:a16="http://schemas.microsoft.com/office/drawing/2014/main" id="{2A651E0E-1F1D-5E52-B27C-3BA6F5DD26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2267" b="-540"/>
          <a:stretch>
            <a:fillRect/>
          </a:stretch>
        </p:blipFill>
        <p:spPr>
          <a:xfrm>
            <a:off x="10349653" y="1664124"/>
            <a:ext cx="4797836" cy="8009887"/>
          </a:xfrm>
          <a:prstGeom prst="rect">
            <a:avLst/>
          </a:prstGeom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A665C0AE-D230-5CBD-BB6D-B540A5F2B8E0}"/>
              </a:ext>
            </a:extLst>
          </p:cNvPr>
          <p:cNvSpPr/>
          <p:nvPr/>
        </p:nvSpPr>
        <p:spPr>
          <a:xfrm>
            <a:off x="7685151" y="5150739"/>
            <a:ext cx="2243328" cy="469392"/>
          </a:xfrm>
          <a:prstGeom prst="rightArrow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s-ES" sz="12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21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3BE4-555D-A0B2-B188-7B877CA1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28618F83-8609-0760-4BD5-4F3FB178A0C0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 err="1">
                <a:latin typeface="Arial Bold"/>
                <a:ea typeface="Arial Bold"/>
                <a:cs typeface="Arial Bold"/>
                <a:sym typeface="Arial Bold"/>
              </a:rPr>
              <a:t>ThingsBoard</a:t>
            </a: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 - </a:t>
            </a:r>
            <a:r>
              <a:rPr lang="en-US" sz="5400" b="1" spc="-116" dirty="0">
                <a:latin typeface="Arial Bold"/>
                <a:ea typeface="Arial Bold"/>
                <a:cs typeface="Arial Bold"/>
                <a:sym typeface="Arial Bold"/>
              </a:rPr>
              <a:t>Telegram</a:t>
            </a:r>
            <a:endParaRPr lang="en-US" sz="5400" b="1" spc="-116" noProof="0" dirty="0">
              <a:latin typeface="Arial Bold"/>
              <a:ea typeface="Arial Bold"/>
              <a:cs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C730E56E-CE2B-818F-B280-8F29BFB83F39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8BF70D2-FBCA-8D33-6257-04F04A409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59491F3-AC70-3E6B-78AF-2F5EA72E4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90A3883F-51E1-DBDB-B1C6-491DF41ED2B5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2F081A52-0397-02E7-90C8-07441406693B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latin typeface="Ubuntu" panose="020B0504030602030204" pitchFamily="34" charset="0"/>
              </a:rPr>
              <a:t>11</a:t>
            </a: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E2BC22CD-2DA2-4C15-33E1-C32D66F33651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Proposal Description</a:t>
            </a:r>
          </a:p>
        </p:txBody>
      </p:sp>
      <p:sp>
        <p:nvSpPr>
          <p:cNvPr id="16" name="Google Shape;142;p26">
            <a:extLst>
              <a:ext uri="{FF2B5EF4-FFF2-40B4-BE49-F238E27FC236}">
                <a16:creationId xmlns:a16="http://schemas.microsoft.com/office/drawing/2014/main" id="{D9B70FEA-62E0-A234-30CA-69E3A1DE5955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BCB5F22E-BE0F-8678-D69E-027297F5AB7D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A4688C60-DE24-CCEF-91F7-F0CD81CD9805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4248D0C4-620A-F547-9ED5-64AB4B036E3B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D66F3499-6CCE-F12A-78C4-ED362E16E0CC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pic>
        <p:nvPicPr>
          <p:cNvPr id="3" name="Imagen 2" descr="telegram_bot.jpeg">
            <a:extLst>
              <a:ext uri="{FF2B5EF4-FFF2-40B4-BE49-F238E27FC236}">
                <a16:creationId xmlns:a16="http://schemas.microsoft.com/office/drawing/2014/main" id="{2965ABA4-1E17-A4FA-EFCA-4CB4D986FF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71" r="15198" b="80963"/>
          <a:stretch>
            <a:fillRect/>
          </a:stretch>
        </p:blipFill>
        <p:spPr>
          <a:xfrm>
            <a:off x="1213737" y="2936298"/>
            <a:ext cx="5422776" cy="833153"/>
          </a:xfrm>
          <a:prstGeom prst="rect">
            <a:avLst/>
          </a:prstGeom>
        </p:spPr>
      </p:pic>
      <p:pic>
        <p:nvPicPr>
          <p:cNvPr id="6" name="Imagen 5" descr="telegram_bot.jpeg">
            <a:extLst>
              <a:ext uri="{FF2B5EF4-FFF2-40B4-BE49-F238E27FC236}">
                <a16:creationId xmlns:a16="http://schemas.microsoft.com/office/drawing/2014/main" id="{93633E4C-E973-D781-3C6D-E8823F339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803" r="15916" b="73647"/>
          <a:stretch>
            <a:fillRect/>
          </a:stretch>
        </p:blipFill>
        <p:spPr>
          <a:xfrm>
            <a:off x="1214672" y="6450748"/>
            <a:ext cx="5430174" cy="1025039"/>
          </a:xfrm>
          <a:prstGeom prst="rect">
            <a:avLst/>
          </a:prstGeom>
        </p:spPr>
      </p:pic>
      <p:pic>
        <p:nvPicPr>
          <p:cNvPr id="9" name="Imagen 8" descr="eggs_detected_alarm.jpeg">
            <a:extLst>
              <a:ext uri="{FF2B5EF4-FFF2-40B4-BE49-F238E27FC236}">
                <a16:creationId xmlns:a16="http://schemas.microsoft.com/office/drawing/2014/main" id="{A049B24A-EEBF-F7C7-E13E-67948CA0C4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43" r="20307" b="1250"/>
          <a:stretch>
            <a:fillRect/>
          </a:stretch>
        </p:blipFill>
        <p:spPr>
          <a:xfrm>
            <a:off x="10481542" y="2931852"/>
            <a:ext cx="6086247" cy="1020345"/>
          </a:xfrm>
          <a:prstGeom prst="rect">
            <a:avLst/>
          </a:prstGeom>
        </p:spPr>
      </p:pic>
      <p:pic>
        <p:nvPicPr>
          <p:cNvPr id="12" name="Imagen 11" descr="eggs_recolected_alarm.jpeg">
            <a:extLst>
              <a:ext uri="{FF2B5EF4-FFF2-40B4-BE49-F238E27FC236}">
                <a16:creationId xmlns:a16="http://schemas.microsoft.com/office/drawing/2014/main" id="{6DEA4F4B-7FFE-1352-5EF6-2069A414FC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9" r="25662" b="1562"/>
          <a:stretch>
            <a:fillRect/>
          </a:stretch>
        </p:blipFill>
        <p:spPr>
          <a:xfrm>
            <a:off x="10221770" y="6558338"/>
            <a:ext cx="6605486" cy="807318"/>
          </a:xfrm>
          <a:prstGeom prst="rect">
            <a:avLst/>
          </a:prstGeom>
        </p:spPr>
      </p:pic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B145DE91-5EF6-8C70-29EE-7F7B5B4422BC}"/>
              </a:ext>
            </a:extLst>
          </p:cNvPr>
          <p:cNvSpPr/>
          <p:nvPr/>
        </p:nvSpPr>
        <p:spPr>
          <a:xfrm>
            <a:off x="3563354" y="4511421"/>
            <a:ext cx="783370" cy="1264158"/>
          </a:xfrm>
          <a:prstGeom prst="downArrow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s-ES" sz="12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FC771330-1BD2-A44A-A457-1E580D447890}"/>
              </a:ext>
            </a:extLst>
          </p:cNvPr>
          <p:cNvSpPr/>
          <p:nvPr/>
        </p:nvSpPr>
        <p:spPr>
          <a:xfrm>
            <a:off x="13135979" y="4511421"/>
            <a:ext cx="783370" cy="1264158"/>
          </a:xfrm>
          <a:prstGeom prst="downArrow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s-ES" sz="1200" b="1" noProof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44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8F95-3873-B100-E121-B3338E08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3F406593-E498-33CD-69E9-C6221465879E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Demo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2A07289D-E08D-E6B9-0326-3163A9352153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9C68513-7F7F-84E8-DEB3-7DFD0DF21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E658D71-D969-8776-E6BF-D81EE6C6E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1E02C6C4-7BC2-4CDF-0C32-D47C3B51D86E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4D1CE1B2-CF52-9EEF-D618-F598367F1E4D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12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16D2C438-2835-26E3-AF42-D619D2530871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17" name="Google Shape;142;p26">
            <a:extLst>
              <a:ext uri="{FF2B5EF4-FFF2-40B4-BE49-F238E27FC236}">
                <a16:creationId xmlns:a16="http://schemas.microsoft.com/office/drawing/2014/main" id="{894E70CA-F193-9F42-489C-B1C8C89A2236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C8863D2B-977B-DC20-7F41-477092E749C6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B1FF511F-1F9A-BDE7-1989-3933B12F45CE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20B35C28-C604-2978-01C1-56973AD43975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3" name="Google Shape;142;p26">
            <a:extLst>
              <a:ext uri="{FF2B5EF4-FFF2-40B4-BE49-F238E27FC236}">
                <a16:creationId xmlns:a16="http://schemas.microsoft.com/office/drawing/2014/main" id="{E647F8C2-04F7-4F33-6E0D-B9DC40F08A41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E4F286-9560-622E-E21D-2070324A30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878" t="664" r="26943" b="1274"/>
          <a:stretch/>
        </p:blipFill>
        <p:spPr>
          <a:xfrm>
            <a:off x="9939675" y="1925921"/>
            <a:ext cx="7553207" cy="66716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E90490D-CD53-4660-A0BC-8319F754A7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5" t="1589" r="30494" b="15051"/>
          <a:stretch/>
        </p:blipFill>
        <p:spPr>
          <a:xfrm>
            <a:off x="795120" y="1884508"/>
            <a:ext cx="7553207" cy="66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5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CAA8-657E-5B9F-CBDE-61C86FD0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C60F4D2F-5C9E-0857-4CFF-260ABCA6493D}"/>
              </a:ext>
            </a:extLst>
          </p:cNvPr>
          <p:cNvSpPr txBox="1"/>
          <p:nvPr/>
        </p:nvSpPr>
        <p:spPr>
          <a:xfrm>
            <a:off x="2329952" y="778187"/>
            <a:ext cx="1195704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Test and Results</a:t>
            </a: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9A02DBB-D7F6-4091-4DFE-59125E397C93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2F356F7-2DDF-3A21-F7ED-3A43FF38A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CDBB145-8B2F-3F74-A50B-EF7D564D7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69003231-AC3E-F2D1-9B7E-0E94BE353914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BD4E8C9F-9BCE-4093-A9BA-00F8D9F71BA2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 panose="020B0504030602030204" pitchFamily="34" charset="0"/>
              </a:rPr>
              <a:t>13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15" name="CH01Title">
            <a:extLst>
              <a:ext uri="{FF2B5EF4-FFF2-40B4-BE49-F238E27FC236}">
                <a16:creationId xmlns:a16="http://schemas.microsoft.com/office/drawing/2014/main" id="{8A713503-FC04-CA01-0C7A-726B1EBBF4E8}"/>
              </a:ext>
            </a:extLst>
          </p:cNvPr>
          <p:cNvSpPr/>
          <p:nvPr/>
        </p:nvSpPr>
        <p:spPr>
          <a:xfrm flipH="1">
            <a:off x="5350535" y="9676928"/>
            <a:ext cx="11925318" cy="466953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 noProof="0">
                <a:solidFill>
                  <a:schemeClr val="bg1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8" name="Google Shape;142;p26">
            <a:extLst>
              <a:ext uri="{FF2B5EF4-FFF2-40B4-BE49-F238E27FC236}">
                <a16:creationId xmlns:a16="http://schemas.microsoft.com/office/drawing/2014/main" id="{5CEDDF09-3AFD-B81C-F8F0-E00EABF1F9B9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/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9" name="Google Shape;142;p26">
            <a:extLst>
              <a:ext uri="{FF2B5EF4-FFF2-40B4-BE49-F238E27FC236}">
                <a16:creationId xmlns:a16="http://schemas.microsoft.com/office/drawing/2014/main" id="{6B42283B-9CEF-4E61-8CB2-0613DD560719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>
                  <a:lumMod val="85000"/>
                </a:schemeClr>
              </a:solidFill>
              <a:latin typeface="Ubuntu" panose="020B0504030602030204" pitchFamily="34" charset="0"/>
            </a:endParaRPr>
          </a:p>
        </p:txBody>
      </p:sp>
      <p:sp>
        <p:nvSpPr>
          <p:cNvPr id="20" name="CH01">
            <a:extLst>
              <a:ext uri="{FF2B5EF4-FFF2-40B4-BE49-F238E27FC236}">
                <a16:creationId xmlns:a16="http://schemas.microsoft.com/office/drawing/2014/main" id="{8CCC43B3-BF97-BB61-8D10-65939E611F35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3" name="Google Shape;142;p26">
            <a:extLst>
              <a:ext uri="{FF2B5EF4-FFF2-40B4-BE49-F238E27FC236}">
                <a16:creationId xmlns:a16="http://schemas.microsoft.com/office/drawing/2014/main" id="{2BDF7A58-941D-D9BB-C1BD-CDF03AEB6966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4" name="Google Shape;142;p26">
            <a:extLst>
              <a:ext uri="{FF2B5EF4-FFF2-40B4-BE49-F238E27FC236}">
                <a16:creationId xmlns:a16="http://schemas.microsoft.com/office/drawing/2014/main" id="{F76B7925-374D-275E-539D-99EFD324FA24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215E801-BC96-C18E-613C-41DA0B351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588410"/>
              </p:ext>
            </p:extLst>
          </p:nvPr>
        </p:nvGraphicFramePr>
        <p:xfrm>
          <a:off x="2930381" y="2198656"/>
          <a:ext cx="13116337" cy="632715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371342">
                  <a:extLst>
                    <a:ext uri="{9D8B030D-6E8A-4147-A177-3AD203B41FA5}">
                      <a16:colId xmlns:a16="http://schemas.microsoft.com/office/drawing/2014/main" val="3870229195"/>
                    </a:ext>
                  </a:extLst>
                </a:gridCol>
                <a:gridCol w="8744995">
                  <a:extLst>
                    <a:ext uri="{9D8B030D-6E8A-4147-A177-3AD203B41FA5}">
                      <a16:colId xmlns:a16="http://schemas.microsoft.com/office/drawing/2014/main" val="3664076570"/>
                    </a:ext>
                  </a:extLst>
                </a:gridCol>
              </a:tblGrid>
              <a:tr h="975001">
                <a:tc>
                  <a:txBody>
                    <a:bodyPr/>
                    <a:lstStyle/>
                    <a:p>
                      <a:pPr algn="l"/>
                      <a:r>
                        <a:rPr lang="es-ES" sz="32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Description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676586"/>
                  </a:ext>
                </a:extLst>
              </a:tr>
              <a:tr h="997551"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Unitary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Tests</a:t>
                      </a:r>
                      <a:endParaRPr lang="es-E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Check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each</a:t>
                      </a:r>
                      <a:r>
                        <a:rPr lang="es-ES" sz="3200" dirty="0"/>
                        <a:t> hardware </a:t>
                      </a:r>
                      <a:r>
                        <a:rPr lang="es-ES" sz="3200" dirty="0" err="1"/>
                        <a:t>peripheral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791641"/>
                  </a:ext>
                </a:extLst>
              </a:tr>
              <a:tr h="991371">
                <a:tc>
                  <a:txBody>
                    <a:bodyPr/>
                    <a:lstStyle/>
                    <a:p>
                      <a:pPr algn="l"/>
                      <a:r>
                        <a:rPr lang="es-ES" sz="3200" dirty="0"/>
                        <a:t>Local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Verify</a:t>
                      </a:r>
                      <a:r>
                        <a:rPr lang="es-ES" sz="3200" dirty="0"/>
                        <a:t> data </a:t>
                      </a:r>
                      <a:r>
                        <a:rPr lang="es-ES" sz="3200" dirty="0" err="1"/>
                        <a:t>acquisition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277744"/>
                  </a:ext>
                </a:extLst>
              </a:tr>
              <a:tr h="1502508"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ThingsBoard</a:t>
                      </a:r>
                      <a:endParaRPr lang="es-E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Connection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between</a:t>
                      </a:r>
                      <a:r>
                        <a:rPr lang="es-ES" sz="3200" dirty="0"/>
                        <a:t> NEST </a:t>
                      </a:r>
                      <a:r>
                        <a:rPr lang="es-ES" sz="3200" dirty="0" err="1"/>
                        <a:t>Devices</a:t>
                      </a:r>
                      <a:r>
                        <a:rPr lang="es-ES" sz="3200" dirty="0"/>
                        <a:t> and </a:t>
                      </a:r>
                      <a:r>
                        <a:rPr lang="es-ES" sz="3200" dirty="0" err="1"/>
                        <a:t>ThingsBoard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platform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41945"/>
                  </a:ext>
                </a:extLst>
              </a:tr>
              <a:tr h="1036928"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Attributes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Changes</a:t>
                      </a:r>
                      <a:endParaRPr lang="es-E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Command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execution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801736"/>
                  </a:ext>
                </a:extLst>
              </a:tr>
              <a:tr h="823800"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System</a:t>
                      </a:r>
                      <a:r>
                        <a:rPr lang="es-ES" sz="3200" dirty="0"/>
                        <a:t> </a:t>
                      </a:r>
                      <a:r>
                        <a:rPr lang="es-ES" sz="3200" dirty="0" err="1"/>
                        <a:t>Integration</a:t>
                      </a:r>
                      <a:endParaRPr lang="es-E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3200" dirty="0" err="1"/>
                        <a:t>End-to-end</a:t>
                      </a:r>
                      <a:endParaRPr lang="es-E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152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50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1">
            <a:extLst>
              <a:ext uri="{FF2B5EF4-FFF2-40B4-BE49-F238E27FC236}">
                <a16:creationId xmlns:a16="http://schemas.microsoft.com/office/drawing/2014/main" id="{FD7B0E69-75A0-82CF-E76E-8AA9E972DF30}"/>
              </a:ext>
            </a:extLst>
          </p:cNvPr>
          <p:cNvSpPr txBox="1"/>
          <p:nvPr/>
        </p:nvSpPr>
        <p:spPr>
          <a:xfrm>
            <a:off x="2380752" y="778187"/>
            <a:ext cx="1049704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Conclusions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3309A3A4-CBF6-5263-E1DA-F341AD8CE5D4}"/>
              </a:ext>
            </a:extLst>
          </p:cNvPr>
          <p:cNvSpPr txBox="1"/>
          <p:nvPr/>
        </p:nvSpPr>
        <p:spPr>
          <a:xfrm>
            <a:off x="2385004" y="442702"/>
            <a:ext cx="529156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0FA6AE-2CFD-2724-50FC-757D8631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1FD573-CC40-84DB-F337-714D03C3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6" name="Google Shape;142;p26">
            <a:extLst>
              <a:ext uri="{FF2B5EF4-FFF2-40B4-BE49-F238E27FC236}">
                <a16:creationId xmlns:a16="http://schemas.microsoft.com/office/drawing/2014/main" id="{EBB50AA0-74D1-5EC7-0F0C-BD99368277DF}"/>
              </a:ext>
            </a:extLst>
          </p:cNvPr>
          <p:cNvSpPr/>
          <p:nvPr/>
        </p:nvSpPr>
        <p:spPr>
          <a:xfrm flipH="1">
            <a:off x="17626452" y="9692586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/>
              </a:rPr>
              <a:t>14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7" name="Google Shape;142;p26">
            <a:extLst>
              <a:ext uri="{FF2B5EF4-FFF2-40B4-BE49-F238E27FC236}">
                <a16:creationId xmlns:a16="http://schemas.microsoft.com/office/drawing/2014/main" id="{43444982-B303-30C9-CDCD-09E516B0C56C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8" name="CH01Title">
            <a:extLst>
              <a:ext uri="{FF2B5EF4-FFF2-40B4-BE49-F238E27FC236}">
                <a16:creationId xmlns:a16="http://schemas.microsoft.com/office/drawing/2014/main" id="{196BC82B-0806-F97A-E6D5-062DF700CD14}"/>
              </a:ext>
            </a:extLst>
          </p:cNvPr>
          <p:cNvSpPr/>
          <p:nvPr/>
        </p:nvSpPr>
        <p:spPr>
          <a:xfrm flipH="1">
            <a:off x="5350534" y="9682371"/>
            <a:ext cx="11925317" cy="477168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ubuntu"/>
                <a:cs typeface="Arial"/>
              </a:rPr>
              <a:t>Conclusions and Future Work</a:t>
            </a:r>
            <a:endParaRPr lang="en-US" sz="2400" b="1">
              <a:solidFill>
                <a:schemeClr val="bg1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42;p26">
            <a:extLst>
              <a:ext uri="{FF2B5EF4-FFF2-40B4-BE49-F238E27FC236}">
                <a16:creationId xmlns:a16="http://schemas.microsoft.com/office/drawing/2014/main" id="{2D4B097A-6816-B1B6-E3F9-532A5B6D02BA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10" name="Google Shape;142;p26">
            <a:extLst>
              <a:ext uri="{FF2B5EF4-FFF2-40B4-BE49-F238E27FC236}">
                <a16:creationId xmlns:a16="http://schemas.microsoft.com/office/drawing/2014/main" id="{2EDD8AF3-32CB-7D6E-4EE6-212D04A9B712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11" name="CH01">
            <a:extLst>
              <a:ext uri="{FF2B5EF4-FFF2-40B4-BE49-F238E27FC236}">
                <a16:creationId xmlns:a16="http://schemas.microsoft.com/office/drawing/2014/main" id="{BD019A99-F516-36F4-6FEE-1DA6A5E60E98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962386F7-77D3-6D45-1694-763247A79258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3" name="Google Shape;142;p26">
            <a:extLst>
              <a:ext uri="{FF2B5EF4-FFF2-40B4-BE49-F238E27FC236}">
                <a16:creationId xmlns:a16="http://schemas.microsoft.com/office/drawing/2014/main" id="{FCA46D30-B40C-E63A-092F-04557FF15F06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pic>
        <p:nvPicPr>
          <p:cNvPr id="14" name="Imagen 13" descr="huevo blanco sonrisa feliz personaje de: vector de stock (libre de  regalías) 2486444317 | Shutterstock">
            <a:extLst>
              <a:ext uri="{FF2B5EF4-FFF2-40B4-BE49-F238E27FC236}">
                <a16:creationId xmlns:a16="http://schemas.microsoft.com/office/drawing/2014/main" id="{677778F2-579B-449D-FE4C-68658C9132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2" r="-753" b="7510"/>
          <a:stretch>
            <a:fillRect/>
          </a:stretch>
        </p:blipFill>
        <p:spPr>
          <a:xfrm>
            <a:off x="1937800" y="3173419"/>
            <a:ext cx="4303083" cy="3876265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F7EFEA9-2FBA-A589-7588-106EFA9A69EF}"/>
              </a:ext>
            </a:extLst>
          </p:cNvPr>
          <p:cNvSpPr/>
          <p:nvPr/>
        </p:nvSpPr>
        <p:spPr>
          <a:xfrm>
            <a:off x="7305675" y="2472283"/>
            <a:ext cx="8005233" cy="914400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Developed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an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IoT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ecosystem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for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hen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farms</a:t>
            </a:r>
            <a:endParaRPr lang="es-ES" sz="28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80E01DB-B447-9F78-46EF-023DAFBF144E}"/>
              </a:ext>
            </a:extLst>
          </p:cNvPr>
          <p:cNvSpPr/>
          <p:nvPr/>
        </p:nvSpPr>
        <p:spPr>
          <a:xfrm>
            <a:off x="7305675" y="3904842"/>
            <a:ext cx="8005233" cy="914400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s-ES" sz="2800" b="1" dirty="0" err="1">
                <a:solidFill>
                  <a:schemeClr val="bg1"/>
                </a:solidFill>
                <a:latin typeface="Arial"/>
                <a:cs typeface="Arial"/>
              </a:rPr>
              <a:t>Deployed</a:t>
            </a:r>
            <a:r>
              <a:rPr lang="es-ES" sz="2800" b="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/>
                <a:cs typeface="Arial"/>
              </a:rPr>
              <a:t>an</a:t>
            </a:r>
            <a:r>
              <a:rPr lang="es-ES" sz="2800" b="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/>
                <a:cs typeface="Arial"/>
              </a:rPr>
              <a:t>autonomus</a:t>
            </a:r>
            <a:r>
              <a:rPr lang="es-ES" sz="2800" b="1" dirty="0">
                <a:solidFill>
                  <a:schemeClr val="bg1"/>
                </a:solidFill>
                <a:latin typeface="Arial"/>
                <a:cs typeface="Arial"/>
              </a:rPr>
              <a:t> Edge </a:t>
            </a:r>
            <a:r>
              <a:rPr lang="es-ES" sz="2800" b="1" dirty="0" err="1">
                <a:solidFill>
                  <a:schemeClr val="bg1"/>
                </a:solidFill>
                <a:latin typeface="Arial"/>
                <a:cs typeface="Arial"/>
              </a:rPr>
              <a:t>decision-making</a:t>
            </a:r>
            <a:endParaRPr lang="es-ES" sz="28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639CA7B-9A4A-AF9F-382C-683AE0E6A589}"/>
              </a:ext>
            </a:extLst>
          </p:cNvPr>
          <p:cNvSpPr/>
          <p:nvPr/>
        </p:nvSpPr>
        <p:spPr>
          <a:xfrm>
            <a:off x="7305675" y="5329783"/>
            <a:ext cx="8005233" cy="914400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Low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latency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and local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autonomy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system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D38F342-3FF3-5402-6394-30D86849E3CC}"/>
              </a:ext>
            </a:extLst>
          </p:cNvPr>
          <p:cNvSpPr/>
          <p:nvPr/>
        </p:nvSpPr>
        <p:spPr>
          <a:xfrm>
            <a:off x="7305675" y="6811449"/>
            <a:ext cx="8005233" cy="914400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ctr"/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Unified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network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capable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of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handling</a:t>
            </a:r>
            <a:r>
              <a:rPr lang="es-ES" sz="2800" b="1">
                <a:solidFill>
                  <a:schemeClr val="bg1"/>
                </a:solidFill>
                <a:latin typeface="Arial"/>
                <a:cs typeface="Arial"/>
              </a:rPr>
              <a:t> diverse data </a:t>
            </a:r>
            <a:r>
              <a:rPr lang="es-ES" sz="2800" b="1" err="1">
                <a:solidFill>
                  <a:schemeClr val="bg1"/>
                </a:solidFill>
                <a:latin typeface="Arial"/>
                <a:cs typeface="Arial"/>
              </a:rPr>
              <a:t>streams</a:t>
            </a:r>
          </a:p>
        </p:txBody>
      </p:sp>
    </p:spTree>
    <p:extLst>
      <p:ext uri="{BB962C8B-B14F-4D97-AF65-F5344CB8AC3E}">
        <p14:creationId xmlns:p14="http://schemas.microsoft.com/office/powerpoint/2010/main" val="3293130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1">
            <a:extLst>
              <a:ext uri="{FF2B5EF4-FFF2-40B4-BE49-F238E27FC236}">
                <a16:creationId xmlns:a16="http://schemas.microsoft.com/office/drawing/2014/main" id="{2D7F5C50-E0D1-7ABC-1FD0-79CBD349B846}"/>
              </a:ext>
            </a:extLst>
          </p:cNvPr>
          <p:cNvSpPr txBox="1"/>
          <p:nvPr/>
        </p:nvSpPr>
        <p:spPr>
          <a:xfrm>
            <a:off x="2380752" y="778187"/>
            <a:ext cx="1049704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>
                <a:latin typeface="Arial Bold"/>
                <a:ea typeface="Arial Bold"/>
                <a:cs typeface="Arial Bold"/>
                <a:sym typeface="Arial Bold"/>
              </a:rPr>
              <a:t>Future Work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D8A5B735-F2CA-2123-E9A7-FF1D262395D1}"/>
              </a:ext>
            </a:extLst>
          </p:cNvPr>
          <p:cNvSpPr txBox="1"/>
          <p:nvPr/>
        </p:nvSpPr>
        <p:spPr>
          <a:xfrm>
            <a:off x="2385004" y="442702"/>
            <a:ext cx="529156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BDF150-0DB6-616E-329A-8D3555F25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6BBC72C-1EA4-9F4E-4483-CAE032E82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38" name="Google Shape;142;p26">
            <a:extLst>
              <a:ext uri="{FF2B5EF4-FFF2-40B4-BE49-F238E27FC236}">
                <a16:creationId xmlns:a16="http://schemas.microsoft.com/office/drawing/2014/main" id="{9F574DCA-FC85-75D8-07A4-8632EAAC8FD2}"/>
              </a:ext>
            </a:extLst>
          </p:cNvPr>
          <p:cNvSpPr/>
          <p:nvPr/>
        </p:nvSpPr>
        <p:spPr>
          <a:xfrm flipH="1">
            <a:off x="17626452" y="9692586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latin typeface="Ubuntu"/>
              </a:rPr>
              <a:t>15</a:t>
            </a:r>
            <a:endParaRPr lang="en-US" sz="2000" b="1" noProof="0">
              <a:latin typeface="Ubuntu" panose="020B0504030602030204" pitchFamily="34" charset="0"/>
            </a:endParaRPr>
          </a:p>
        </p:txBody>
      </p:sp>
      <p:sp>
        <p:nvSpPr>
          <p:cNvPr id="39" name="Google Shape;142;p26">
            <a:extLst>
              <a:ext uri="{FF2B5EF4-FFF2-40B4-BE49-F238E27FC236}">
                <a16:creationId xmlns:a16="http://schemas.microsoft.com/office/drawing/2014/main" id="{37C6E756-FCA5-B2F0-DC82-6D6C5258A06B}"/>
              </a:ext>
            </a:extLst>
          </p:cNvPr>
          <p:cNvSpPr/>
          <p:nvPr/>
        </p:nvSpPr>
        <p:spPr>
          <a:xfrm flipH="1">
            <a:off x="1316945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40" name="CH01Title">
            <a:extLst>
              <a:ext uri="{FF2B5EF4-FFF2-40B4-BE49-F238E27FC236}">
                <a16:creationId xmlns:a16="http://schemas.microsoft.com/office/drawing/2014/main" id="{88440697-D1DF-53B0-5C59-65513B7BB38C}"/>
              </a:ext>
            </a:extLst>
          </p:cNvPr>
          <p:cNvSpPr/>
          <p:nvPr/>
        </p:nvSpPr>
        <p:spPr>
          <a:xfrm flipH="1">
            <a:off x="5350535" y="9682371"/>
            <a:ext cx="11925318" cy="477167"/>
          </a:xfrm>
          <a:prstGeom prst="roundRect">
            <a:avLst/>
          </a:prstGeom>
          <a:solidFill>
            <a:srgbClr val="1867B7"/>
          </a:solidFill>
          <a:ln>
            <a:noFill/>
          </a:ln>
        </p:spPr>
        <p:txBody>
          <a:bodyPr spcFirstLastPara="1" wrap="square" lIns="72000" tIns="36000" rIns="36000" bIns="36000" anchor="ctr" anchorCtr="0">
            <a:no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ubuntu"/>
                <a:cs typeface="Arial"/>
              </a:rPr>
              <a:t>Conclusions and Future Work</a:t>
            </a:r>
            <a:endParaRPr lang="en-US" sz="2400" b="1">
              <a:solidFill>
                <a:schemeClr val="bg1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41" name="Google Shape;142;p26">
            <a:extLst>
              <a:ext uri="{FF2B5EF4-FFF2-40B4-BE49-F238E27FC236}">
                <a16:creationId xmlns:a16="http://schemas.microsoft.com/office/drawing/2014/main" id="{71FF59E2-91B3-8555-4049-EBE36773ADF7}"/>
              </a:ext>
            </a:extLst>
          </p:cNvPr>
          <p:cNvSpPr/>
          <p:nvPr/>
        </p:nvSpPr>
        <p:spPr>
          <a:xfrm flipH="1">
            <a:off x="2123663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42" name="Google Shape;142;p26">
            <a:extLst>
              <a:ext uri="{FF2B5EF4-FFF2-40B4-BE49-F238E27FC236}">
                <a16:creationId xmlns:a16="http://schemas.microsoft.com/office/drawing/2014/main" id="{34BBB1EF-5E07-9186-9D6D-89764D0040A0}"/>
              </a:ext>
            </a:extLst>
          </p:cNvPr>
          <p:cNvSpPr/>
          <p:nvPr/>
        </p:nvSpPr>
        <p:spPr>
          <a:xfrm flipH="1">
            <a:off x="2930381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43" name="CH01">
            <a:extLst>
              <a:ext uri="{FF2B5EF4-FFF2-40B4-BE49-F238E27FC236}">
                <a16:creationId xmlns:a16="http://schemas.microsoft.com/office/drawing/2014/main" id="{5F4A5F0C-AD42-13A0-979D-1A052C2E4772}"/>
              </a:ext>
            </a:extLst>
          </p:cNvPr>
          <p:cNvSpPr/>
          <p:nvPr/>
        </p:nvSpPr>
        <p:spPr>
          <a:xfrm flipH="1">
            <a:off x="510227" y="9682371"/>
            <a:ext cx="456121" cy="466953"/>
          </a:xfrm>
          <a:prstGeom prst="roundRect">
            <a:avLst/>
          </a:prstGeom>
          <a:solidFill>
            <a:schemeClr val="bg1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rgbClr val="D9D9D9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44" name="Google Shape;142;p26">
            <a:extLst>
              <a:ext uri="{FF2B5EF4-FFF2-40B4-BE49-F238E27FC236}">
                <a16:creationId xmlns:a16="http://schemas.microsoft.com/office/drawing/2014/main" id="{856ADE6C-04A1-50EA-D338-5F8B1B8953FD}"/>
              </a:ext>
            </a:extLst>
          </p:cNvPr>
          <p:cNvSpPr/>
          <p:nvPr/>
        </p:nvSpPr>
        <p:spPr>
          <a:xfrm flipH="1">
            <a:off x="4543817" y="9682370"/>
            <a:ext cx="456121" cy="466953"/>
          </a:xfrm>
          <a:prstGeom prst="roundRect">
            <a:avLst/>
          </a:prstGeom>
          <a:solidFill>
            <a:srgbClr val="1867B7"/>
          </a:solidFill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Ubuntu" panose="020B0504030602030204" pitchFamily="34" charset="0"/>
              </a:rPr>
              <a:t>6</a:t>
            </a:r>
            <a:endParaRPr lang="en-US" sz="20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5" name="Google Shape;142;p26">
            <a:extLst>
              <a:ext uri="{FF2B5EF4-FFF2-40B4-BE49-F238E27FC236}">
                <a16:creationId xmlns:a16="http://schemas.microsoft.com/office/drawing/2014/main" id="{A613A19A-23CE-DA4E-18AD-311ADAFFA955}"/>
              </a:ext>
            </a:extLst>
          </p:cNvPr>
          <p:cNvSpPr/>
          <p:nvPr/>
        </p:nvSpPr>
        <p:spPr>
          <a:xfrm flipH="1">
            <a:off x="3737099" y="9682371"/>
            <a:ext cx="456121" cy="466953"/>
          </a:xfrm>
          <a:prstGeom prst="roundRect">
            <a:avLst/>
          </a:prstGeom>
          <a:noFill/>
          <a:ln>
            <a:solidFill>
              <a:srgbClr val="1867B7"/>
            </a:solidFill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noProof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5</a:t>
            </a:r>
          </a:p>
        </p:txBody>
      </p:sp>
      <p:graphicFrame>
        <p:nvGraphicFramePr>
          <p:cNvPr id="50" name="Diagrama 49">
            <a:extLst>
              <a:ext uri="{FF2B5EF4-FFF2-40B4-BE49-F238E27FC236}">
                <a16:creationId xmlns:a16="http://schemas.microsoft.com/office/drawing/2014/main" id="{F31A69CA-ABFE-E7A2-4728-AC81EF969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6347366"/>
              </p:ext>
            </p:extLst>
          </p:nvPr>
        </p:nvGraphicFramePr>
        <p:xfrm>
          <a:off x="719666" y="1593144"/>
          <a:ext cx="16862777" cy="784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20471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Hen Sitting on Nest with Two Eggs in a Rustic Setting | Premium AI ...">
            <a:extLst>
              <a:ext uri="{FF2B5EF4-FFF2-40B4-BE49-F238E27FC236}">
                <a16:creationId xmlns:a16="http://schemas.microsoft.com/office/drawing/2014/main" id="{31F3A9B6-3726-4037-734D-71822D20F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84" y="1743846"/>
            <a:ext cx="11558016" cy="77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7">
            <a:extLst>
              <a:ext uri="{FF2B5EF4-FFF2-40B4-BE49-F238E27FC236}">
                <a16:creationId xmlns:a16="http://schemas.microsoft.com/office/drawing/2014/main" id="{AC4690B7-2231-7BAE-C2AE-7FDAD2428CF3}"/>
              </a:ext>
            </a:extLst>
          </p:cNvPr>
          <p:cNvSpPr txBox="1"/>
          <p:nvPr/>
        </p:nvSpPr>
        <p:spPr>
          <a:xfrm>
            <a:off x="2362200" y="726715"/>
            <a:ext cx="6362700" cy="30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800" b="1" spc="-41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Architecture and Service Platforms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4F72E5-A89F-3A6D-24C1-8870016B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9AEF74-D9A1-8B65-AB4C-D293A3AED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C8F6BA9-F188-C4E9-38CC-998DA4244633}"/>
              </a:ext>
            </a:extLst>
          </p:cNvPr>
          <p:cNvSpPr/>
          <p:nvPr/>
        </p:nvSpPr>
        <p:spPr>
          <a:xfrm>
            <a:off x="1447800" y="3413851"/>
            <a:ext cx="8382000" cy="4114800"/>
          </a:xfrm>
          <a:prstGeom prst="rect">
            <a:avLst/>
          </a:prstGeom>
          <a:solidFill>
            <a:srgbClr val="1867B7">
              <a:alpha val="74000"/>
            </a:srgbClr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n-US" sz="1200" b="1" noProof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1B8FF060-6924-E222-8BAE-3B6288C835A3}"/>
              </a:ext>
            </a:extLst>
          </p:cNvPr>
          <p:cNvSpPr txBox="1"/>
          <p:nvPr/>
        </p:nvSpPr>
        <p:spPr>
          <a:xfrm>
            <a:off x="1926527" y="3926878"/>
            <a:ext cx="7402773" cy="1282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7200" b="1" spc="-194" noProof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D3CD3787-5492-E4F8-AF3C-5C5B67F8409E}"/>
              </a:ext>
            </a:extLst>
          </p:cNvPr>
          <p:cNvSpPr txBox="1"/>
          <p:nvPr/>
        </p:nvSpPr>
        <p:spPr>
          <a:xfrm>
            <a:off x="1937413" y="4647625"/>
            <a:ext cx="2558388" cy="1169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3600" b="1" spc="-194" noProof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28106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867B7"/>
        </a:solidFill>
        <a:ln>
          <a:noFill/>
        </a:ln>
      </a:spPr>
      <a:bodyPr spcFirstLastPara="1" wrap="square" lIns="72000" tIns="36000" rIns="36000" bIns="36000" anchor="ctr" anchorCtr="0">
        <a:noAutofit/>
      </a:bodyPr>
      <a:lstStyle>
        <a:defPPr algn="l">
          <a:defRPr sz="1200" b="1" noProof="0" dirty="0">
            <a:solidFill>
              <a:schemeClr val="bg1"/>
            </a:solidFill>
            <a:latin typeface="Ubuntu" panose="020B0504030602030204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6D297D7D72CF48BC00C85FA7DA7FAD" ma:contentTypeVersion="15" ma:contentTypeDescription="Crear nuevo documento." ma:contentTypeScope="" ma:versionID="bff06d55417470980e87afe6d4cf8d71">
  <xsd:schema xmlns:xsd="http://www.w3.org/2001/XMLSchema" xmlns:xs="http://www.w3.org/2001/XMLSchema" xmlns:p="http://schemas.microsoft.com/office/2006/metadata/properties" xmlns:ns3="6f979a40-6145-4262-ac9c-6c5da0bb6d58" xmlns:ns4="1b867f6b-d099-456f-897d-750bac300416" targetNamespace="http://schemas.microsoft.com/office/2006/metadata/properties" ma:root="true" ma:fieldsID="397249c406ff59e2b6cb07f3a779a953" ns3:_="" ns4:_="">
    <xsd:import namespace="6f979a40-6145-4262-ac9c-6c5da0bb6d58"/>
    <xsd:import namespace="1b867f6b-d099-456f-897d-750bac3004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79a40-6145-4262-ac9c-6c5da0bb6d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67f6b-d099-456f-897d-750bac30041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979a40-6145-4262-ac9c-6c5da0bb6d58" xsi:nil="true"/>
  </documentManagement>
</p:properties>
</file>

<file path=customXml/itemProps1.xml><?xml version="1.0" encoding="utf-8"?>
<ds:datastoreItem xmlns:ds="http://schemas.openxmlformats.org/officeDocument/2006/customXml" ds:itemID="{0A83712F-F844-4CC0-B5BA-BC57B0539F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979a40-6145-4262-ac9c-6c5da0bb6d58"/>
    <ds:schemaRef ds:uri="1b867f6b-d099-456f-897d-750bac3004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99F01C-FABB-4080-9952-15D8573AB5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EAF6AC-A10F-4E0D-BB8D-50ECD6BB2F85}">
  <ds:schemaRefs>
    <ds:schemaRef ds:uri="http://schemas.microsoft.com/office/2006/documentManagement/types"/>
    <ds:schemaRef ds:uri="http://purl.org/dc/dcmitype/"/>
    <ds:schemaRef ds:uri="6f979a40-6145-4262-ac9c-6c5da0bb6d58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b867f6b-d099-456f-897d-750bac30041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830</Words>
  <Application>Microsoft Office PowerPoint</Application>
  <PresentationFormat>Personalizado</PresentationFormat>
  <Paragraphs>296</Paragraphs>
  <Slides>22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Aptos</vt:lpstr>
      <vt:lpstr>Arial Bold</vt:lpstr>
      <vt:lpstr>Arial</vt:lpstr>
      <vt:lpstr>Ubuntu</vt:lpstr>
      <vt:lpstr>Calibri</vt:lpstr>
      <vt:lpstr>Times New Roman</vt:lpstr>
      <vt:lpstr>Ubuntu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Finance Business Report Presentation</dc:title>
  <dc:creator>Estela</dc:creator>
  <cp:lastModifiedBy>ESTELA MORA BARBA</cp:lastModifiedBy>
  <cp:revision>153</cp:revision>
  <dcterms:created xsi:type="dcterms:W3CDTF">2006-08-16T00:00:00Z</dcterms:created>
  <dcterms:modified xsi:type="dcterms:W3CDTF">2026-02-12T17:54:41Z</dcterms:modified>
  <dc:identifier>DAGjl_6cPhI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0x0101003E6D297D7D72CF48BC00C85FA7DA7FAD</vt:lpwstr>
  </property>
</Properties>
</file>